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82"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A347DBA-8329-4779-8DFB-7056AAA41B38}"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2722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47DBA-8329-4779-8DFB-7056AAA41B38}" type="slidenum">
              <a:rPr lang="en-US" smtClean="0"/>
              <a:t>‹#›</a:t>
            </a:fld>
            <a:endParaRPr lang="en-US"/>
          </a:p>
        </p:txBody>
      </p:sp>
    </p:spTree>
    <p:extLst>
      <p:ext uri="{BB962C8B-B14F-4D97-AF65-F5344CB8AC3E}">
        <p14:creationId xmlns:p14="http://schemas.microsoft.com/office/powerpoint/2010/main" val="573270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47DBA-8329-4779-8DFB-7056AAA41B38}"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1247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226ADA-65EB-4D5F-B31F-2B0F73D6638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347DBA-8329-4779-8DFB-7056AAA41B38}" type="slidenum">
              <a:rPr lang="en-US" smtClean="0"/>
              <a:t>‹#›</a:t>
            </a:fld>
            <a:endParaRPr lang="en-US"/>
          </a:p>
        </p:txBody>
      </p:sp>
    </p:spTree>
    <p:extLst>
      <p:ext uri="{BB962C8B-B14F-4D97-AF65-F5344CB8AC3E}">
        <p14:creationId xmlns:p14="http://schemas.microsoft.com/office/powerpoint/2010/main" val="3992201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226ADA-65EB-4D5F-B31F-2B0F73D66384}" type="datetimeFigureOut">
              <a:rPr lang="en-US" smtClean="0"/>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347DBA-8329-4779-8DFB-7056AAA41B38}"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7843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226ADA-65EB-4D5F-B31F-2B0F73D66384}" type="datetimeFigureOut">
              <a:rPr lang="en-US" smtClean="0"/>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347DBA-8329-4779-8DFB-7056AAA41B3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2838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226ADA-65EB-4D5F-B31F-2B0F73D66384}" type="datetimeFigureOut">
              <a:rPr lang="en-US" smtClean="0"/>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347DBA-8329-4779-8DFB-7056AAA41B38}" type="slidenum">
              <a:rPr lang="en-US" smtClean="0"/>
              <a:t>‹#›</a:t>
            </a:fld>
            <a:endParaRPr lang="en-US"/>
          </a:p>
        </p:txBody>
      </p:sp>
    </p:spTree>
    <p:extLst>
      <p:ext uri="{BB962C8B-B14F-4D97-AF65-F5344CB8AC3E}">
        <p14:creationId xmlns:p14="http://schemas.microsoft.com/office/powerpoint/2010/main" val="2363396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226ADA-65EB-4D5F-B31F-2B0F73D6638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347DBA-8329-4779-8DFB-7056AAA41B38}"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4737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226ADA-65EB-4D5F-B31F-2B0F73D6638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347DBA-8329-4779-8DFB-7056AAA41B38}" type="slidenum">
              <a:rPr lang="en-US" smtClean="0"/>
              <a:t>‹#›</a:t>
            </a:fld>
            <a:endParaRPr lang="en-US"/>
          </a:p>
        </p:txBody>
      </p:sp>
    </p:spTree>
    <p:extLst>
      <p:ext uri="{BB962C8B-B14F-4D97-AF65-F5344CB8AC3E}">
        <p14:creationId xmlns:p14="http://schemas.microsoft.com/office/powerpoint/2010/main" val="4093667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226ADA-65EB-4D5F-B31F-2B0F73D66384}"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347DBA-8329-4779-8DFB-7056AAA41B38}" type="slidenum">
              <a:rPr lang="en-US" smtClean="0"/>
              <a:t>‹#›</a:t>
            </a:fld>
            <a:endParaRPr lang="en-US"/>
          </a:p>
        </p:txBody>
      </p:sp>
    </p:spTree>
    <p:extLst>
      <p:ext uri="{BB962C8B-B14F-4D97-AF65-F5344CB8AC3E}">
        <p14:creationId xmlns:p14="http://schemas.microsoft.com/office/powerpoint/2010/main" val="4064496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47DBA-8329-4779-8DFB-7056AAA41B38}"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2432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47DBA-8329-4779-8DFB-7056AAA41B38}"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310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47DBA-8329-4779-8DFB-7056AAA41B38}" type="slidenum">
              <a:rPr lang="en-US" smtClean="0"/>
              <a:t>‹#›</a:t>
            </a:fld>
            <a:endParaRPr lang="en-US"/>
          </a:p>
        </p:txBody>
      </p:sp>
    </p:spTree>
    <p:extLst>
      <p:ext uri="{BB962C8B-B14F-4D97-AF65-F5344CB8AC3E}">
        <p14:creationId xmlns:p14="http://schemas.microsoft.com/office/powerpoint/2010/main" val="2305147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47DBA-8329-4779-8DFB-7056AAA41B38}"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19314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47DBA-8329-4779-8DFB-7056AAA41B38}"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13631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47DBA-8329-4779-8DFB-7056AAA41B3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99201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226ADA-65EB-4D5F-B31F-2B0F73D66384}"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347DBA-8329-4779-8DFB-7056AAA41B38}"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131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5226ADA-65EB-4D5F-B31F-2B0F73D66384}" type="datetimeFigureOut">
              <a:rPr lang="en-US" smtClean="0"/>
              <a:t>7/7/2025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A347DBA-8329-4779-8DFB-7056AAA41B38}" type="slidenum">
              <a:rPr lang="en-US" smtClean="0"/>
              <a:t>‹#›</a:t>
            </a:fld>
            <a:endParaRPr lang="en-US"/>
          </a:p>
        </p:txBody>
      </p:sp>
    </p:spTree>
    <p:extLst>
      <p:ext uri="{BB962C8B-B14F-4D97-AF65-F5344CB8AC3E}">
        <p14:creationId xmlns:p14="http://schemas.microsoft.com/office/powerpoint/2010/main" val="29985088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CEAC7-9DD6-2EB7-B3EA-49E0F01388BB}"/>
              </a:ext>
            </a:extLst>
          </p:cNvPr>
          <p:cNvSpPr>
            <a:spLocks noGrp="1"/>
          </p:cNvSpPr>
          <p:nvPr>
            <p:ph type="ctrTitle"/>
          </p:nvPr>
        </p:nvSpPr>
        <p:spPr/>
        <p:txBody>
          <a:bodyPr/>
          <a:lstStyle/>
          <a:p>
            <a:r>
              <a:rPr lang="en-US" dirty="0"/>
              <a:t>Tic-Tac-Toe AI player</a:t>
            </a:r>
          </a:p>
        </p:txBody>
      </p:sp>
      <p:sp>
        <p:nvSpPr>
          <p:cNvPr id="3" name="Subtitle 2">
            <a:extLst>
              <a:ext uri="{FF2B5EF4-FFF2-40B4-BE49-F238E27FC236}">
                <a16:creationId xmlns:a16="http://schemas.microsoft.com/office/drawing/2014/main" id="{50DE3F4A-14EE-B0F2-ABBD-54AA34D5AFC2}"/>
              </a:ext>
            </a:extLst>
          </p:cNvPr>
          <p:cNvSpPr>
            <a:spLocks noGrp="1"/>
          </p:cNvSpPr>
          <p:nvPr>
            <p:ph type="subTitle" idx="1"/>
          </p:nvPr>
        </p:nvSpPr>
        <p:spPr/>
        <p:txBody>
          <a:bodyPr>
            <a:normAutofit fontScale="77500" lnSpcReduction="20000"/>
          </a:bodyPr>
          <a:lstStyle/>
          <a:p>
            <a:r>
              <a:rPr lang="en-US" dirty="0"/>
              <a:t>Prepared by Khaled Walid and Ahmed Waleed and Ahmed </a:t>
            </a:r>
            <a:r>
              <a:rPr lang="en-US" dirty="0" err="1"/>
              <a:t>hesham</a:t>
            </a:r>
            <a:endParaRPr lang="en-US" dirty="0"/>
          </a:p>
          <a:p>
            <a:r>
              <a:rPr lang="en-US" dirty="0"/>
              <a:t>id:  Khaled 222109</a:t>
            </a:r>
          </a:p>
          <a:p>
            <a:r>
              <a:rPr lang="en-US" dirty="0"/>
              <a:t>Ahmed 222147</a:t>
            </a:r>
          </a:p>
          <a:p>
            <a:r>
              <a:rPr lang="en-US" dirty="0"/>
              <a:t>ahmed</a:t>
            </a:r>
            <a:r>
              <a:rPr lang="en-US" sz="1800" dirty="0">
                <a:effectLst/>
                <a:latin typeface="Calibri" panose="020F0502020204030204" pitchFamily="34" charset="0"/>
                <a:ea typeface="Calibri" panose="020F0502020204030204" pitchFamily="34" charset="0"/>
                <a:cs typeface="Arial" panose="020B0604020202020204" pitchFamily="34" charset="0"/>
              </a:rPr>
              <a:t>227846</a:t>
            </a:r>
            <a:endParaRPr lang="en-US" dirty="0"/>
          </a:p>
        </p:txBody>
      </p:sp>
    </p:spTree>
    <p:extLst>
      <p:ext uri="{BB962C8B-B14F-4D97-AF65-F5344CB8AC3E}">
        <p14:creationId xmlns:p14="http://schemas.microsoft.com/office/powerpoint/2010/main" val="632592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362AB-4E29-C2C6-710B-7471CE2A4428}"/>
              </a:ext>
            </a:extLst>
          </p:cNvPr>
          <p:cNvSpPr>
            <a:spLocks noGrp="1"/>
          </p:cNvSpPr>
          <p:nvPr>
            <p:ph type="title"/>
          </p:nvPr>
        </p:nvSpPr>
        <p:spPr/>
        <p:txBody>
          <a:bodyPr>
            <a:normAutofit/>
          </a:bodyPr>
          <a:lstStyle/>
          <a:p>
            <a:r>
              <a:rPr lang="en-US" dirty="0"/>
              <a:t>Introduction “What a Tic-Tac-Toe game ?”</a:t>
            </a:r>
          </a:p>
        </p:txBody>
      </p:sp>
      <p:sp>
        <p:nvSpPr>
          <p:cNvPr id="3" name="Content Placeholder 2">
            <a:extLst>
              <a:ext uri="{FF2B5EF4-FFF2-40B4-BE49-F238E27FC236}">
                <a16:creationId xmlns:a16="http://schemas.microsoft.com/office/drawing/2014/main" id="{1969AA84-4E0E-3B92-B50B-97DC17D02FB9}"/>
              </a:ext>
            </a:extLst>
          </p:cNvPr>
          <p:cNvSpPr>
            <a:spLocks noGrp="1"/>
          </p:cNvSpPr>
          <p:nvPr>
            <p:ph idx="1"/>
          </p:nvPr>
        </p:nvSpPr>
        <p:spPr/>
        <p:txBody>
          <a:bodyPr/>
          <a:lstStyle/>
          <a:p>
            <a:r>
              <a:rPr lang="en-US" spc="-5" dirty="0">
                <a:solidFill>
                  <a:srgbClr val="242424"/>
                </a:solidFill>
                <a:effectLst/>
                <a:latin typeface="Georgia" panose="02040502050405020303" pitchFamily="18" charset="0"/>
                <a:ea typeface="Times New Roman" panose="02020603050405020304" pitchFamily="18" charset="0"/>
                <a:cs typeface="Times New Roman" panose="02020603050405020304" pitchFamily="18" charset="0"/>
              </a:rPr>
              <a:t>Tic-Tac-Toe is a game in which two players seek alternate turns to complete a row, a column, or a diagonal with either three O’s or three X’s drawn in the spaces of a grid of nine squares. </a:t>
            </a:r>
            <a:endParaRPr lang="en-US"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268137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46CA2-9E8F-0EC3-D46F-A3B9A82810F6}"/>
              </a:ext>
            </a:extLst>
          </p:cNvPr>
          <p:cNvSpPr>
            <a:spLocks noGrp="1"/>
          </p:cNvSpPr>
          <p:nvPr>
            <p:ph type="title"/>
          </p:nvPr>
        </p:nvSpPr>
        <p:spPr/>
        <p:txBody>
          <a:bodyPr>
            <a:normAutofit/>
          </a:bodyPr>
          <a:lstStyle/>
          <a:p>
            <a:r>
              <a:rPr lang="en-US" sz="3600" dirty="0"/>
              <a:t>Question: “What does the AI player intend to do?”</a:t>
            </a:r>
          </a:p>
        </p:txBody>
      </p:sp>
      <p:sp>
        <p:nvSpPr>
          <p:cNvPr id="3" name="Content Placeholder 2">
            <a:extLst>
              <a:ext uri="{FF2B5EF4-FFF2-40B4-BE49-F238E27FC236}">
                <a16:creationId xmlns:a16="http://schemas.microsoft.com/office/drawing/2014/main" id="{327FC1E0-2017-7E8D-198B-0D7352A670FD}"/>
              </a:ext>
            </a:extLst>
          </p:cNvPr>
          <p:cNvSpPr>
            <a:spLocks noGrp="1"/>
          </p:cNvSpPr>
          <p:nvPr>
            <p:ph idx="1"/>
          </p:nvPr>
        </p:nvSpPr>
        <p:spPr>
          <a:xfrm>
            <a:off x="1295400" y="2556932"/>
            <a:ext cx="9700845" cy="3318936"/>
          </a:xfrm>
        </p:spPr>
        <p:txBody>
          <a:bodyPr/>
          <a:lstStyle/>
          <a:p>
            <a:r>
              <a:rPr lang="en-US" sz="2800" spc="-5" dirty="0">
                <a:solidFill>
                  <a:srgbClr val="242424"/>
                </a:solidFill>
                <a:effectLst/>
                <a:latin typeface="Georgia" panose="02040502050405020303" pitchFamily="18" charset="0"/>
                <a:ea typeface="Times New Roman" panose="02020603050405020304" pitchFamily="18" charset="0"/>
                <a:cs typeface="Times New Roman" panose="02020603050405020304" pitchFamily="18" charset="0"/>
              </a:rPr>
              <a:t>Our game is focused on creating an AI Tic-Tac-Toe player using the </a:t>
            </a:r>
            <a:r>
              <a:rPr lang="en-US" sz="2800" spc="-5" dirty="0" err="1">
                <a:solidFill>
                  <a:srgbClr val="242424"/>
                </a:solidFill>
                <a:effectLst/>
                <a:latin typeface="Georgia" panose="02040502050405020303" pitchFamily="18" charset="0"/>
                <a:ea typeface="Times New Roman" panose="02020603050405020304" pitchFamily="18" charset="0"/>
                <a:cs typeface="Times New Roman" panose="02020603050405020304" pitchFamily="18" charset="0"/>
              </a:rPr>
              <a:t>Pygame</a:t>
            </a:r>
            <a:r>
              <a:rPr lang="en-US" sz="2800" spc="-5" dirty="0">
                <a:solidFill>
                  <a:srgbClr val="242424"/>
                </a:solidFill>
                <a:effectLst/>
                <a:latin typeface="Georgia" panose="02040502050405020303" pitchFamily="18" charset="0"/>
                <a:ea typeface="Times New Roman" panose="02020603050405020304" pitchFamily="18" charset="0"/>
                <a:cs typeface="Times New Roman" panose="02020603050405020304" pitchFamily="18" charset="0"/>
              </a:rPr>
              <a:t> library to make the </a:t>
            </a:r>
            <a:r>
              <a:rPr lang="en-US" sz="2800" spc="-5" dirty="0">
                <a:solidFill>
                  <a:srgbClr val="242424"/>
                </a:solidFill>
                <a:latin typeface="Georgia" panose="02040502050405020303" pitchFamily="18" charset="0"/>
                <a:ea typeface="Times New Roman" panose="02020603050405020304" pitchFamily="18" charset="0"/>
                <a:cs typeface="Times New Roman" panose="02020603050405020304" pitchFamily="18" charset="0"/>
              </a:rPr>
              <a:t>AI player</a:t>
            </a:r>
            <a:r>
              <a:rPr lang="en-US" sz="2800" spc="-5" dirty="0">
                <a:solidFill>
                  <a:srgbClr val="242424"/>
                </a:solidFill>
                <a:effectLst/>
                <a:latin typeface="Georgia" panose="02040502050405020303" pitchFamily="18" charset="0"/>
                <a:ea typeface="Times New Roman" panose="02020603050405020304" pitchFamily="18" charset="0"/>
                <a:cs typeface="Times New Roman" panose="02020603050405020304" pitchFamily="18" charset="0"/>
              </a:rPr>
              <a:t> play and win  against a human being player.</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613730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C9943-2032-D42E-05E3-3E99E37087C8}"/>
              </a:ext>
            </a:extLst>
          </p:cNvPr>
          <p:cNvSpPr>
            <a:spLocks noGrp="1"/>
          </p:cNvSpPr>
          <p:nvPr>
            <p:ph type="title"/>
          </p:nvPr>
        </p:nvSpPr>
        <p:spPr/>
        <p:txBody>
          <a:bodyPr/>
          <a:lstStyle/>
          <a:p>
            <a:r>
              <a:rPr lang="en-US" dirty="0"/>
              <a:t>Explaining a Flow chart for the code</a:t>
            </a:r>
          </a:p>
        </p:txBody>
      </p:sp>
      <p:pic>
        <p:nvPicPr>
          <p:cNvPr id="4" name="Content Placeholder 3">
            <a:extLst>
              <a:ext uri="{FF2B5EF4-FFF2-40B4-BE49-F238E27FC236}">
                <a16:creationId xmlns:a16="http://schemas.microsoft.com/office/drawing/2014/main" id="{D40C8C3E-CC6B-2E9D-1C1D-4B514B0D033E}"/>
              </a:ext>
            </a:extLst>
          </p:cNvPr>
          <p:cNvPicPr>
            <a:picLocks noGrp="1" noChangeAspect="1"/>
          </p:cNvPicPr>
          <p:nvPr>
            <p:ph idx="1"/>
          </p:nvPr>
        </p:nvPicPr>
        <p:blipFill>
          <a:blip r:embed="rId2"/>
          <a:stretch>
            <a:fillRect/>
          </a:stretch>
        </p:blipFill>
        <p:spPr>
          <a:xfrm>
            <a:off x="1295402" y="2440015"/>
            <a:ext cx="3644996" cy="3725891"/>
          </a:xfrm>
          <a:prstGeom prst="rect">
            <a:avLst/>
          </a:prstGeom>
        </p:spPr>
      </p:pic>
      <p:sp>
        <p:nvSpPr>
          <p:cNvPr id="6" name="TextBox 5">
            <a:extLst>
              <a:ext uri="{FF2B5EF4-FFF2-40B4-BE49-F238E27FC236}">
                <a16:creationId xmlns:a16="http://schemas.microsoft.com/office/drawing/2014/main" id="{06D72223-433D-2DA7-2502-6E748877CCEB}"/>
              </a:ext>
            </a:extLst>
          </p:cNvPr>
          <p:cNvSpPr txBox="1"/>
          <p:nvPr/>
        </p:nvSpPr>
        <p:spPr>
          <a:xfrm>
            <a:off x="4781024" y="2733301"/>
            <a:ext cx="6115574" cy="3139321"/>
          </a:xfrm>
          <a:prstGeom prst="rect">
            <a:avLst/>
          </a:prstGeom>
          <a:noFill/>
        </p:spPr>
        <p:txBody>
          <a:bodyPr wrap="square">
            <a:spAutoFit/>
          </a:bodyPr>
          <a:lstStyle/>
          <a:p>
            <a:r>
              <a:rPr lang="en-US" dirty="0"/>
              <a:t>Initialization: The game starts by loading assets, importing libraries, initializing the system, and defining scores and turns.</a:t>
            </a:r>
          </a:p>
          <a:p>
            <a:r>
              <a:rPr lang="en-US" dirty="0"/>
              <a:t>Player’s Turn: If it’s the player’s turn, they make a move, the board is updated, and the game checks for a winner or draw.</a:t>
            </a:r>
          </a:p>
          <a:p>
            <a:r>
              <a:rPr lang="en-US" dirty="0"/>
              <a:t>AI’s Turn: If it’s the AI’s turn, it goes through a decision-making process, updates the board and scores, and checks for a winner or draw.</a:t>
            </a:r>
          </a:p>
          <a:p>
            <a:r>
              <a:rPr lang="en-US" dirty="0"/>
              <a:t>End Condition: The game ends when there is a winner or a draw.</a:t>
            </a:r>
          </a:p>
          <a:p>
            <a:r>
              <a:rPr lang="en-US" dirty="0"/>
              <a:t>This sequence continues until the game reaches the “game over” condition. Each turn’s actions and outcomes are clearly defined, ensuring the game progresses logically</a:t>
            </a:r>
          </a:p>
        </p:txBody>
      </p:sp>
    </p:spTree>
    <p:extLst>
      <p:ext uri="{BB962C8B-B14F-4D97-AF65-F5344CB8AC3E}">
        <p14:creationId xmlns:p14="http://schemas.microsoft.com/office/powerpoint/2010/main" val="3445933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34150-148C-4D54-C2DB-AA78C404E47E}"/>
              </a:ext>
            </a:extLst>
          </p:cNvPr>
          <p:cNvSpPr>
            <a:spLocks noGrp="1"/>
          </p:cNvSpPr>
          <p:nvPr>
            <p:ph type="title"/>
          </p:nvPr>
        </p:nvSpPr>
        <p:spPr/>
        <p:txBody>
          <a:bodyPr/>
          <a:lstStyle/>
          <a:p>
            <a:r>
              <a:rPr lang="en-US" dirty="0"/>
              <a:t>Now let us explain the code </a:t>
            </a:r>
          </a:p>
        </p:txBody>
      </p:sp>
      <p:pic>
        <p:nvPicPr>
          <p:cNvPr id="9" name="Content Placeholder 8">
            <a:extLst>
              <a:ext uri="{FF2B5EF4-FFF2-40B4-BE49-F238E27FC236}">
                <a16:creationId xmlns:a16="http://schemas.microsoft.com/office/drawing/2014/main" id="{F34CF623-1FD8-B173-E15F-C3A3C0586915}"/>
              </a:ext>
            </a:extLst>
          </p:cNvPr>
          <p:cNvPicPr>
            <a:picLocks noGrp="1" noChangeAspect="1"/>
          </p:cNvPicPr>
          <p:nvPr>
            <p:ph idx="1"/>
          </p:nvPr>
        </p:nvPicPr>
        <p:blipFill>
          <a:blip r:embed="rId2"/>
          <a:stretch>
            <a:fillRect/>
          </a:stretch>
        </p:blipFill>
        <p:spPr>
          <a:xfrm>
            <a:off x="1797771" y="2557993"/>
            <a:ext cx="3317875" cy="3317875"/>
          </a:xfrm>
          <a:prstGeom prst="rect">
            <a:avLst/>
          </a:prstGeom>
        </p:spPr>
      </p:pic>
      <p:pic>
        <p:nvPicPr>
          <p:cNvPr id="10" name="Picture 9">
            <a:extLst>
              <a:ext uri="{FF2B5EF4-FFF2-40B4-BE49-F238E27FC236}">
                <a16:creationId xmlns:a16="http://schemas.microsoft.com/office/drawing/2014/main" id="{C95DEA65-B566-80C1-E09F-53825B03F22D}"/>
              </a:ext>
            </a:extLst>
          </p:cNvPr>
          <p:cNvPicPr>
            <a:picLocks noChangeAspect="1"/>
          </p:cNvPicPr>
          <p:nvPr/>
        </p:nvPicPr>
        <p:blipFill>
          <a:blip r:embed="rId3"/>
          <a:stretch>
            <a:fillRect/>
          </a:stretch>
        </p:blipFill>
        <p:spPr>
          <a:xfrm>
            <a:off x="5320145" y="2557993"/>
            <a:ext cx="5074083" cy="3317875"/>
          </a:xfrm>
          <a:prstGeom prst="rect">
            <a:avLst/>
          </a:prstGeom>
        </p:spPr>
      </p:pic>
    </p:spTree>
    <p:extLst>
      <p:ext uri="{BB962C8B-B14F-4D97-AF65-F5344CB8AC3E}">
        <p14:creationId xmlns:p14="http://schemas.microsoft.com/office/powerpoint/2010/main" val="1129679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134C0F80-B682-9DD9-0A92-E3CDEF4D9870}"/>
              </a:ext>
            </a:extLst>
          </p:cNvPr>
          <p:cNvPicPr>
            <a:picLocks noGrp="1" noChangeAspect="1"/>
          </p:cNvPicPr>
          <p:nvPr>
            <p:ph idx="1"/>
          </p:nvPr>
        </p:nvPicPr>
        <p:blipFill>
          <a:blip r:embed="rId2"/>
          <a:stretch>
            <a:fillRect/>
          </a:stretch>
        </p:blipFill>
        <p:spPr>
          <a:xfrm>
            <a:off x="4779819" y="648087"/>
            <a:ext cx="6554788" cy="5586458"/>
          </a:xfrm>
        </p:spPr>
      </p:pic>
      <p:sp>
        <p:nvSpPr>
          <p:cNvPr id="14" name="Text Placeholder 13">
            <a:extLst>
              <a:ext uri="{FF2B5EF4-FFF2-40B4-BE49-F238E27FC236}">
                <a16:creationId xmlns:a16="http://schemas.microsoft.com/office/drawing/2014/main" id="{D39CFD15-12D2-9619-2AAC-54C955269620}"/>
              </a:ext>
            </a:extLst>
          </p:cNvPr>
          <p:cNvSpPr>
            <a:spLocks noGrp="1"/>
          </p:cNvSpPr>
          <p:nvPr>
            <p:ph type="body" sz="half" idx="2"/>
          </p:nvPr>
        </p:nvSpPr>
        <p:spPr>
          <a:xfrm>
            <a:off x="857394" y="1267691"/>
            <a:ext cx="3174280" cy="685800"/>
          </a:xfrm>
        </p:spPr>
        <p:txBody>
          <a:bodyPr>
            <a:normAutofit fontScale="92500"/>
          </a:bodyPr>
          <a:lstStyle/>
          <a:p>
            <a:r>
              <a:rPr lang="en-US" dirty="0">
                <a:highlight>
                  <a:srgbClr val="FFFF00"/>
                </a:highlight>
              </a:rPr>
              <a:t>This line imports some variables and methods by the Python interpreter itself</a:t>
            </a:r>
          </a:p>
        </p:txBody>
      </p:sp>
      <p:sp>
        <p:nvSpPr>
          <p:cNvPr id="19" name="TextBox 18">
            <a:extLst>
              <a:ext uri="{FF2B5EF4-FFF2-40B4-BE49-F238E27FC236}">
                <a16:creationId xmlns:a16="http://schemas.microsoft.com/office/drawing/2014/main" id="{98414DDC-A019-4112-3AFE-82B67A327EFE}"/>
              </a:ext>
            </a:extLst>
          </p:cNvPr>
          <p:cNvSpPr txBox="1"/>
          <p:nvPr/>
        </p:nvSpPr>
        <p:spPr>
          <a:xfrm>
            <a:off x="857393" y="3071984"/>
            <a:ext cx="3600450" cy="1477328"/>
          </a:xfrm>
          <a:prstGeom prst="rect">
            <a:avLst/>
          </a:prstGeom>
          <a:noFill/>
        </p:spPr>
        <p:txBody>
          <a:bodyPr wrap="square" rtlCol="0">
            <a:spAutoFit/>
          </a:bodyPr>
          <a:lstStyle/>
          <a:p>
            <a:r>
              <a:rPr lang="en-US" dirty="0">
                <a:highlight>
                  <a:srgbClr val="FFFF00"/>
                </a:highlight>
              </a:rPr>
              <a:t>We are using a library in Python called </a:t>
            </a:r>
            <a:r>
              <a:rPr lang="en-US" dirty="0" err="1">
                <a:highlight>
                  <a:srgbClr val="FFFF00"/>
                </a:highlight>
              </a:rPr>
              <a:t>py</a:t>
            </a:r>
            <a:r>
              <a:rPr lang="en-US" dirty="0">
                <a:highlight>
                  <a:srgbClr val="FFFF00"/>
                </a:highlight>
              </a:rPr>
              <a:t> game that we need to install on our system to use that are used in common video games like tic-tac-toe game</a:t>
            </a:r>
          </a:p>
        </p:txBody>
      </p:sp>
      <p:pic>
        <p:nvPicPr>
          <p:cNvPr id="20" name="Picture 19">
            <a:extLst>
              <a:ext uri="{FF2B5EF4-FFF2-40B4-BE49-F238E27FC236}">
                <a16:creationId xmlns:a16="http://schemas.microsoft.com/office/drawing/2014/main" id="{703C94A7-9E5B-2FE2-CAE0-DCBE5B6FDA8D}"/>
              </a:ext>
            </a:extLst>
          </p:cNvPr>
          <p:cNvPicPr>
            <a:picLocks noChangeAspect="1"/>
          </p:cNvPicPr>
          <p:nvPr/>
        </p:nvPicPr>
        <p:blipFill>
          <a:blip r:embed="rId3"/>
          <a:stretch>
            <a:fillRect/>
          </a:stretch>
        </p:blipFill>
        <p:spPr>
          <a:xfrm>
            <a:off x="3714527" y="2817469"/>
            <a:ext cx="2035894" cy="1180129"/>
          </a:xfrm>
          <a:prstGeom prst="rect">
            <a:avLst/>
          </a:prstGeom>
        </p:spPr>
      </p:pic>
      <p:sp>
        <p:nvSpPr>
          <p:cNvPr id="21" name="TextBox 20">
            <a:extLst>
              <a:ext uri="{FF2B5EF4-FFF2-40B4-BE49-F238E27FC236}">
                <a16:creationId xmlns:a16="http://schemas.microsoft.com/office/drawing/2014/main" id="{8CD6E9CA-9526-B386-46DD-AF7167B10278}"/>
              </a:ext>
            </a:extLst>
          </p:cNvPr>
          <p:cNvSpPr txBox="1"/>
          <p:nvPr/>
        </p:nvSpPr>
        <p:spPr>
          <a:xfrm>
            <a:off x="942975" y="5086350"/>
            <a:ext cx="3448050" cy="923330"/>
          </a:xfrm>
          <a:prstGeom prst="rect">
            <a:avLst/>
          </a:prstGeom>
          <a:noFill/>
        </p:spPr>
        <p:txBody>
          <a:bodyPr wrap="square" rtlCol="0">
            <a:spAutoFit/>
          </a:bodyPr>
          <a:lstStyle/>
          <a:p>
            <a:r>
              <a:rPr lang="en-US" dirty="0">
                <a:highlight>
                  <a:srgbClr val="FFFF00"/>
                </a:highlight>
              </a:rPr>
              <a:t>This line is used to allow matrix and vector for two-dimensional array purposes</a:t>
            </a:r>
          </a:p>
        </p:txBody>
      </p:sp>
      <p:pic>
        <p:nvPicPr>
          <p:cNvPr id="22" name="Picture 21">
            <a:extLst>
              <a:ext uri="{FF2B5EF4-FFF2-40B4-BE49-F238E27FC236}">
                <a16:creationId xmlns:a16="http://schemas.microsoft.com/office/drawing/2014/main" id="{21E6F658-5383-72D7-257C-6C4848CA689B}"/>
              </a:ext>
            </a:extLst>
          </p:cNvPr>
          <p:cNvPicPr>
            <a:picLocks noChangeAspect="1"/>
          </p:cNvPicPr>
          <p:nvPr/>
        </p:nvPicPr>
        <p:blipFill>
          <a:blip r:embed="rId4"/>
          <a:stretch>
            <a:fillRect/>
          </a:stretch>
        </p:blipFill>
        <p:spPr>
          <a:xfrm>
            <a:off x="4045223" y="3884842"/>
            <a:ext cx="1374502" cy="1870323"/>
          </a:xfrm>
          <a:prstGeom prst="rect">
            <a:avLst/>
          </a:prstGeom>
        </p:spPr>
      </p:pic>
      <p:pic>
        <p:nvPicPr>
          <p:cNvPr id="23" name="Picture 22">
            <a:extLst>
              <a:ext uri="{FF2B5EF4-FFF2-40B4-BE49-F238E27FC236}">
                <a16:creationId xmlns:a16="http://schemas.microsoft.com/office/drawing/2014/main" id="{C13C187A-0749-1CF2-322B-92451EAC916B}"/>
              </a:ext>
            </a:extLst>
          </p:cNvPr>
          <p:cNvPicPr>
            <a:picLocks noChangeAspect="1"/>
          </p:cNvPicPr>
          <p:nvPr/>
        </p:nvPicPr>
        <p:blipFill>
          <a:blip r:embed="rId5"/>
          <a:stretch>
            <a:fillRect/>
          </a:stretch>
        </p:blipFill>
        <p:spPr>
          <a:xfrm>
            <a:off x="3229052" y="916121"/>
            <a:ext cx="2333547" cy="1182727"/>
          </a:xfrm>
          <a:prstGeom prst="rect">
            <a:avLst/>
          </a:prstGeom>
        </p:spPr>
      </p:pic>
    </p:spTree>
    <p:extLst>
      <p:ext uri="{BB962C8B-B14F-4D97-AF65-F5344CB8AC3E}">
        <p14:creationId xmlns:p14="http://schemas.microsoft.com/office/powerpoint/2010/main" val="2398948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9626085-0584-EE1E-1400-577964AC39CB}"/>
              </a:ext>
            </a:extLst>
          </p:cNvPr>
          <p:cNvPicPr>
            <a:picLocks noGrp="1" noChangeAspect="1"/>
          </p:cNvPicPr>
          <p:nvPr>
            <p:ph idx="1"/>
          </p:nvPr>
        </p:nvPicPr>
        <p:blipFill>
          <a:blip r:embed="rId2"/>
          <a:stretch>
            <a:fillRect/>
          </a:stretch>
        </p:blipFill>
        <p:spPr>
          <a:xfrm>
            <a:off x="5117304" y="1847417"/>
            <a:ext cx="5526089" cy="4080934"/>
          </a:xfrm>
        </p:spPr>
      </p:pic>
      <p:sp>
        <p:nvSpPr>
          <p:cNvPr id="13" name="TextBox 12">
            <a:extLst>
              <a:ext uri="{FF2B5EF4-FFF2-40B4-BE49-F238E27FC236}">
                <a16:creationId xmlns:a16="http://schemas.microsoft.com/office/drawing/2014/main" id="{AF1E1D07-FEB5-0D47-93CC-16A6D5C792D2}"/>
              </a:ext>
            </a:extLst>
          </p:cNvPr>
          <p:cNvSpPr txBox="1"/>
          <p:nvPr/>
        </p:nvSpPr>
        <p:spPr>
          <a:xfrm>
            <a:off x="1440654" y="1388534"/>
            <a:ext cx="3676650" cy="1200329"/>
          </a:xfrm>
          <a:prstGeom prst="rect">
            <a:avLst/>
          </a:prstGeom>
          <a:noFill/>
        </p:spPr>
        <p:txBody>
          <a:bodyPr wrap="square" rtlCol="0">
            <a:spAutoFit/>
          </a:bodyPr>
          <a:lstStyle/>
          <a:p>
            <a:r>
              <a:rPr lang="en-US" dirty="0">
                <a:highlight>
                  <a:srgbClr val="FFFF00"/>
                </a:highlight>
              </a:rPr>
              <a:t>Width and height are  variables defined to set the width and height of the screen to draw square dimensions 600 pixels by 600 pixels</a:t>
            </a:r>
          </a:p>
        </p:txBody>
      </p:sp>
      <p:pic>
        <p:nvPicPr>
          <p:cNvPr id="14" name="Picture 13">
            <a:extLst>
              <a:ext uri="{FF2B5EF4-FFF2-40B4-BE49-F238E27FC236}">
                <a16:creationId xmlns:a16="http://schemas.microsoft.com/office/drawing/2014/main" id="{493F3452-D9A4-8044-EF1A-50781E3E9F7A}"/>
              </a:ext>
            </a:extLst>
          </p:cNvPr>
          <p:cNvPicPr>
            <a:picLocks noChangeAspect="1"/>
          </p:cNvPicPr>
          <p:nvPr/>
        </p:nvPicPr>
        <p:blipFill>
          <a:blip r:embed="rId3"/>
          <a:stretch>
            <a:fillRect/>
          </a:stretch>
        </p:blipFill>
        <p:spPr>
          <a:xfrm>
            <a:off x="1749424" y="1988699"/>
            <a:ext cx="4537075" cy="937864"/>
          </a:xfrm>
          <a:prstGeom prst="rect">
            <a:avLst/>
          </a:prstGeom>
        </p:spPr>
      </p:pic>
      <p:sp>
        <p:nvSpPr>
          <p:cNvPr id="18" name="TextBox 17">
            <a:extLst>
              <a:ext uri="{FF2B5EF4-FFF2-40B4-BE49-F238E27FC236}">
                <a16:creationId xmlns:a16="http://schemas.microsoft.com/office/drawing/2014/main" id="{573E9573-A507-CA82-8B38-61FE4E1827E9}"/>
              </a:ext>
            </a:extLst>
          </p:cNvPr>
          <p:cNvSpPr txBox="1"/>
          <p:nvPr/>
        </p:nvSpPr>
        <p:spPr>
          <a:xfrm>
            <a:off x="1398987" y="3046827"/>
            <a:ext cx="3676650" cy="1384995"/>
          </a:xfrm>
          <a:prstGeom prst="rect">
            <a:avLst/>
          </a:prstGeom>
          <a:noFill/>
        </p:spPr>
        <p:txBody>
          <a:bodyPr wrap="square">
            <a:spAutoFit/>
          </a:bodyPr>
          <a:lstStyle/>
          <a:p>
            <a:r>
              <a:rPr lang="en-US" sz="1400" dirty="0">
                <a:highlight>
                  <a:srgbClr val="FFFF00"/>
                </a:highlight>
              </a:rPr>
              <a:t>SQSIZE: This variable determines the size of each square in the Tic Tac Toe grid. Since the grid has 3 rows and 3 columns, the window is divided into a 3x3 grid. Therefore, SQSIZE is calculated as the integer division of the WIDTH by 3, ensuring that each square is of equal size.</a:t>
            </a:r>
          </a:p>
        </p:txBody>
      </p:sp>
      <p:pic>
        <p:nvPicPr>
          <p:cNvPr id="19" name="Picture 18">
            <a:extLst>
              <a:ext uri="{FF2B5EF4-FFF2-40B4-BE49-F238E27FC236}">
                <a16:creationId xmlns:a16="http://schemas.microsoft.com/office/drawing/2014/main" id="{A7267FFB-E8BA-43F8-E4AB-BA316E31DE51}"/>
              </a:ext>
            </a:extLst>
          </p:cNvPr>
          <p:cNvPicPr>
            <a:picLocks noChangeAspect="1"/>
          </p:cNvPicPr>
          <p:nvPr/>
        </p:nvPicPr>
        <p:blipFill>
          <a:blip r:embed="rId4"/>
          <a:stretch>
            <a:fillRect/>
          </a:stretch>
        </p:blipFill>
        <p:spPr>
          <a:xfrm>
            <a:off x="4348047" y="3488581"/>
            <a:ext cx="1486696" cy="938865"/>
          </a:xfrm>
          <a:prstGeom prst="rect">
            <a:avLst/>
          </a:prstGeom>
        </p:spPr>
      </p:pic>
      <p:sp>
        <p:nvSpPr>
          <p:cNvPr id="21" name="TextBox 20">
            <a:extLst>
              <a:ext uri="{FF2B5EF4-FFF2-40B4-BE49-F238E27FC236}">
                <a16:creationId xmlns:a16="http://schemas.microsoft.com/office/drawing/2014/main" id="{011BA826-8318-63FB-AF25-F0E47DD65BB1}"/>
              </a:ext>
            </a:extLst>
          </p:cNvPr>
          <p:cNvSpPr txBox="1"/>
          <p:nvPr/>
        </p:nvSpPr>
        <p:spPr>
          <a:xfrm>
            <a:off x="1398987" y="4592303"/>
            <a:ext cx="3540751" cy="1754326"/>
          </a:xfrm>
          <a:prstGeom prst="rect">
            <a:avLst/>
          </a:prstGeom>
          <a:noFill/>
        </p:spPr>
        <p:txBody>
          <a:bodyPr wrap="square">
            <a:spAutoFit/>
          </a:bodyPr>
          <a:lstStyle/>
          <a:p>
            <a:r>
              <a:rPr lang="en-US" dirty="0">
                <a:highlight>
                  <a:srgbClr val="FFFF00"/>
                </a:highlight>
              </a:rPr>
              <a:t>LINE_WIDTH: This variable specifies the width of the lines that draw the grid on the game window. It determines how thick the lines separating the Tic Tac Toe squares will be.</a:t>
            </a:r>
          </a:p>
        </p:txBody>
      </p:sp>
      <p:pic>
        <p:nvPicPr>
          <p:cNvPr id="22" name="Picture 21">
            <a:extLst>
              <a:ext uri="{FF2B5EF4-FFF2-40B4-BE49-F238E27FC236}">
                <a16:creationId xmlns:a16="http://schemas.microsoft.com/office/drawing/2014/main" id="{D410FC85-0F4E-FBD8-F32C-057D1A150C92}"/>
              </a:ext>
            </a:extLst>
          </p:cNvPr>
          <p:cNvPicPr>
            <a:picLocks noChangeAspect="1"/>
          </p:cNvPicPr>
          <p:nvPr/>
        </p:nvPicPr>
        <p:blipFill>
          <a:blip r:embed="rId5"/>
          <a:stretch>
            <a:fillRect/>
          </a:stretch>
        </p:blipFill>
        <p:spPr>
          <a:xfrm>
            <a:off x="4284745" y="4801063"/>
            <a:ext cx="1680626" cy="938865"/>
          </a:xfrm>
          <a:prstGeom prst="rect">
            <a:avLst/>
          </a:prstGeom>
        </p:spPr>
      </p:pic>
    </p:spTree>
    <p:extLst>
      <p:ext uri="{BB962C8B-B14F-4D97-AF65-F5344CB8AC3E}">
        <p14:creationId xmlns:p14="http://schemas.microsoft.com/office/powerpoint/2010/main" val="196334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8A4403F-837D-0D60-9C55-01A7DC36D6B5}"/>
              </a:ext>
            </a:extLst>
          </p:cNvPr>
          <p:cNvPicPr>
            <a:picLocks noGrp="1" noChangeAspect="1"/>
          </p:cNvPicPr>
          <p:nvPr>
            <p:ph idx="1"/>
          </p:nvPr>
        </p:nvPicPr>
        <p:blipFill>
          <a:blip r:embed="rId2"/>
          <a:stretch>
            <a:fillRect/>
          </a:stretch>
        </p:blipFill>
        <p:spPr>
          <a:xfrm>
            <a:off x="4827208" y="917806"/>
            <a:ext cx="6584648" cy="5573486"/>
          </a:xfrm>
        </p:spPr>
      </p:pic>
      <p:sp>
        <p:nvSpPr>
          <p:cNvPr id="9" name="TextBox 8">
            <a:extLst>
              <a:ext uri="{FF2B5EF4-FFF2-40B4-BE49-F238E27FC236}">
                <a16:creationId xmlns:a16="http://schemas.microsoft.com/office/drawing/2014/main" id="{9B3207AF-E912-293E-7AF7-4DADE10F84C2}"/>
              </a:ext>
            </a:extLst>
          </p:cNvPr>
          <p:cNvSpPr txBox="1"/>
          <p:nvPr/>
        </p:nvSpPr>
        <p:spPr>
          <a:xfrm>
            <a:off x="780144" y="917806"/>
            <a:ext cx="3690256" cy="1200329"/>
          </a:xfrm>
          <a:prstGeom prst="rect">
            <a:avLst/>
          </a:prstGeom>
          <a:solidFill>
            <a:srgbClr val="FFFF00"/>
          </a:solidFill>
        </p:spPr>
        <p:txBody>
          <a:bodyPr wrap="square">
            <a:spAutoFit/>
          </a:bodyPr>
          <a:lstStyle/>
          <a:p>
            <a:r>
              <a:rPr lang="en-US" dirty="0"/>
              <a:t>CIRCLE_RADIUS: This variable sets the radius of the circle to be drawn when a player marks a square with a circle symbol.</a:t>
            </a:r>
          </a:p>
        </p:txBody>
      </p:sp>
      <p:pic>
        <p:nvPicPr>
          <p:cNvPr id="10" name="Picture 9">
            <a:extLst>
              <a:ext uri="{FF2B5EF4-FFF2-40B4-BE49-F238E27FC236}">
                <a16:creationId xmlns:a16="http://schemas.microsoft.com/office/drawing/2014/main" id="{5E33D43E-69A7-C39A-0D6A-047BB175D378}"/>
              </a:ext>
            </a:extLst>
          </p:cNvPr>
          <p:cNvPicPr>
            <a:picLocks noChangeAspect="1"/>
          </p:cNvPicPr>
          <p:nvPr/>
        </p:nvPicPr>
        <p:blipFill>
          <a:blip r:embed="rId3"/>
          <a:stretch>
            <a:fillRect/>
          </a:stretch>
        </p:blipFill>
        <p:spPr>
          <a:xfrm>
            <a:off x="3036207" y="859860"/>
            <a:ext cx="3366709" cy="1316220"/>
          </a:xfrm>
          <a:prstGeom prst="rect">
            <a:avLst/>
          </a:prstGeom>
        </p:spPr>
      </p:pic>
      <p:sp>
        <p:nvSpPr>
          <p:cNvPr id="12" name="TextBox 11">
            <a:extLst>
              <a:ext uri="{FF2B5EF4-FFF2-40B4-BE49-F238E27FC236}">
                <a16:creationId xmlns:a16="http://schemas.microsoft.com/office/drawing/2014/main" id="{71A0F38F-89E8-7F26-78EB-A1EBDD481C73}"/>
              </a:ext>
            </a:extLst>
          </p:cNvPr>
          <p:cNvSpPr txBox="1"/>
          <p:nvPr/>
        </p:nvSpPr>
        <p:spPr>
          <a:xfrm>
            <a:off x="780144" y="2234026"/>
            <a:ext cx="3690256" cy="1200329"/>
          </a:xfrm>
          <a:prstGeom prst="rect">
            <a:avLst/>
          </a:prstGeom>
          <a:noFill/>
        </p:spPr>
        <p:txBody>
          <a:bodyPr wrap="square">
            <a:spAutoFit/>
          </a:bodyPr>
          <a:lstStyle/>
          <a:p>
            <a:r>
              <a:rPr lang="en-US" dirty="0">
                <a:highlight>
                  <a:srgbClr val="FFFF00"/>
                </a:highlight>
              </a:rPr>
              <a:t>CIRCLE_WIDTH: It determines the width of the line used to draw the circle. This variable controls how thick the lines outlining the circle will be.</a:t>
            </a:r>
          </a:p>
        </p:txBody>
      </p:sp>
      <p:pic>
        <p:nvPicPr>
          <p:cNvPr id="13" name="Picture 12">
            <a:extLst>
              <a:ext uri="{FF2B5EF4-FFF2-40B4-BE49-F238E27FC236}">
                <a16:creationId xmlns:a16="http://schemas.microsoft.com/office/drawing/2014/main" id="{07A553C7-732A-C348-4AEF-F72E5B6E79BD}"/>
              </a:ext>
            </a:extLst>
          </p:cNvPr>
          <p:cNvPicPr>
            <a:picLocks noChangeAspect="1"/>
          </p:cNvPicPr>
          <p:nvPr/>
        </p:nvPicPr>
        <p:blipFill>
          <a:blip r:embed="rId4"/>
          <a:stretch>
            <a:fillRect/>
          </a:stretch>
        </p:blipFill>
        <p:spPr>
          <a:xfrm>
            <a:off x="3144566" y="2358411"/>
            <a:ext cx="3365284" cy="1316850"/>
          </a:xfrm>
          <a:prstGeom prst="rect">
            <a:avLst/>
          </a:prstGeom>
        </p:spPr>
      </p:pic>
      <p:sp>
        <p:nvSpPr>
          <p:cNvPr id="15" name="TextBox 14">
            <a:extLst>
              <a:ext uri="{FF2B5EF4-FFF2-40B4-BE49-F238E27FC236}">
                <a16:creationId xmlns:a16="http://schemas.microsoft.com/office/drawing/2014/main" id="{C873AF16-399E-586D-78E4-58BA00590083}"/>
              </a:ext>
            </a:extLst>
          </p:cNvPr>
          <p:cNvSpPr txBox="1"/>
          <p:nvPr/>
        </p:nvSpPr>
        <p:spPr>
          <a:xfrm>
            <a:off x="780144" y="3752895"/>
            <a:ext cx="3690256" cy="1200329"/>
          </a:xfrm>
          <a:prstGeom prst="rect">
            <a:avLst/>
          </a:prstGeom>
          <a:solidFill>
            <a:srgbClr val="FFFF00"/>
          </a:solidFill>
        </p:spPr>
        <p:txBody>
          <a:bodyPr wrap="square">
            <a:spAutoFit/>
          </a:bodyPr>
          <a:lstStyle/>
          <a:p>
            <a:r>
              <a:rPr lang="en-US" dirty="0"/>
              <a:t>CROSS_WIDTH: Similarly, this variable specifies the width of the lines used to draw the "X" symbol when a player marks a square with a cross.</a:t>
            </a:r>
          </a:p>
        </p:txBody>
      </p:sp>
      <p:pic>
        <p:nvPicPr>
          <p:cNvPr id="16" name="Picture 15">
            <a:extLst>
              <a:ext uri="{FF2B5EF4-FFF2-40B4-BE49-F238E27FC236}">
                <a16:creationId xmlns:a16="http://schemas.microsoft.com/office/drawing/2014/main" id="{461E28AA-1149-1EC9-3CE6-7B9E620FA3EF}"/>
              </a:ext>
            </a:extLst>
          </p:cNvPr>
          <p:cNvPicPr>
            <a:picLocks noChangeAspect="1"/>
          </p:cNvPicPr>
          <p:nvPr/>
        </p:nvPicPr>
        <p:blipFill>
          <a:blip r:embed="rId5"/>
          <a:stretch>
            <a:fillRect/>
          </a:stretch>
        </p:blipFill>
        <p:spPr>
          <a:xfrm>
            <a:off x="3368330" y="3675261"/>
            <a:ext cx="2292241" cy="1485198"/>
          </a:xfrm>
          <a:prstGeom prst="rect">
            <a:avLst/>
          </a:prstGeom>
        </p:spPr>
      </p:pic>
      <p:sp>
        <p:nvSpPr>
          <p:cNvPr id="18" name="TextBox 17">
            <a:extLst>
              <a:ext uri="{FF2B5EF4-FFF2-40B4-BE49-F238E27FC236}">
                <a16:creationId xmlns:a16="http://schemas.microsoft.com/office/drawing/2014/main" id="{79AADA15-5283-D025-F0F0-4F3B12631AB8}"/>
              </a:ext>
            </a:extLst>
          </p:cNvPr>
          <p:cNvSpPr txBox="1"/>
          <p:nvPr/>
        </p:nvSpPr>
        <p:spPr>
          <a:xfrm>
            <a:off x="780142" y="5030858"/>
            <a:ext cx="3690257" cy="1015663"/>
          </a:xfrm>
          <a:prstGeom prst="rect">
            <a:avLst/>
          </a:prstGeom>
          <a:noFill/>
        </p:spPr>
        <p:txBody>
          <a:bodyPr wrap="square">
            <a:spAutoFit/>
          </a:bodyPr>
          <a:lstStyle/>
          <a:p>
            <a:r>
              <a:rPr lang="en-US" sz="1200" dirty="0">
                <a:highlight>
                  <a:srgbClr val="FFFF00"/>
                </a:highlight>
              </a:rPr>
              <a:t>OFFSET: This variable sets the offset from the edges of the square to the symbols (circle or cross) drawn inside it. It ensures that the symbols are drawn within the square and are not too close to its edges, making the game visually appealing and easier to understand for the player.</a:t>
            </a:r>
          </a:p>
        </p:txBody>
      </p:sp>
      <p:pic>
        <p:nvPicPr>
          <p:cNvPr id="19" name="Picture 18">
            <a:extLst>
              <a:ext uri="{FF2B5EF4-FFF2-40B4-BE49-F238E27FC236}">
                <a16:creationId xmlns:a16="http://schemas.microsoft.com/office/drawing/2014/main" id="{1AD78406-8020-539B-3E36-D365B036F819}"/>
              </a:ext>
            </a:extLst>
          </p:cNvPr>
          <p:cNvPicPr>
            <a:picLocks noChangeAspect="1"/>
          </p:cNvPicPr>
          <p:nvPr/>
        </p:nvPicPr>
        <p:blipFill>
          <a:blip r:embed="rId6"/>
          <a:stretch>
            <a:fillRect/>
          </a:stretch>
        </p:blipFill>
        <p:spPr>
          <a:xfrm>
            <a:off x="3803705" y="4734650"/>
            <a:ext cx="2292295" cy="1487553"/>
          </a:xfrm>
          <a:prstGeom prst="rect">
            <a:avLst/>
          </a:prstGeom>
        </p:spPr>
      </p:pic>
    </p:spTree>
    <p:extLst>
      <p:ext uri="{BB962C8B-B14F-4D97-AF65-F5344CB8AC3E}">
        <p14:creationId xmlns:p14="http://schemas.microsoft.com/office/powerpoint/2010/main" val="3930451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2749A18-B6C0-E873-3C21-E7B1600013EA}"/>
              </a:ext>
            </a:extLst>
          </p:cNvPr>
          <p:cNvPicPr>
            <a:picLocks noGrp="1" noChangeAspect="1"/>
          </p:cNvPicPr>
          <p:nvPr>
            <p:ph idx="1"/>
          </p:nvPr>
        </p:nvPicPr>
        <p:blipFill>
          <a:blip r:embed="rId2"/>
          <a:stretch>
            <a:fillRect/>
          </a:stretch>
        </p:blipFill>
        <p:spPr>
          <a:xfrm>
            <a:off x="5295900" y="755649"/>
            <a:ext cx="6400800" cy="5346700"/>
          </a:xfrm>
        </p:spPr>
      </p:pic>
      <p:sp>
        <p:nvSpPr>
          <p:cNvPr id="10" name="TextBox 9">
            <a:extLst>
              <a:ext uri="{FF2B5EF4-FFF2-40B4-BE49-F238E27FC236}">
                <a16:creationId xmlns:a16="http://schemas.microsoft.com/office/drawing/2014/main" id="{AE89DD08-A27F-F80E-397A-5EF0C80BDE57}"/>
              </a:ext>
            </a:extLst>
          </p:cNvPr>
          <p:cNvSpPr txBox="1"/>
          <p:nvPr/>
        </p:nvSpPr>
        <p:spPr>
          <a:xfrm>
            <a:off x="847725" y="755649"/>
            <a:ext cx="4143375" cy="5047536"/>
          </a:xfrm>
          <a:prstGeom prst="rect">
            <a:avLst/>
          </a:prstGeom>
          <a:solidFill>
            <a:srgbClr val="FFFF00"/>
          </a:solidFill>
        </p:spPr>
        <p:txBody>
          <a:bodyPr wrap="square">
            <a:spAutoFit/>
          </a:bodyPr>
          <a:lstStyle/>
          <a:p>
            <a:r>
              <a:rPr lang="en-US" sz="1600" dirty="0"/>
              <a:t>BG_COLOR: This variable represents the background color of the game window. It is typically the color behind all other elements of the game. In this case, the background color is a shade of turquoise.</a:t>
            </a:r>
          </a:p>
          <a:p>
            <a:r>
              <a:rPr lang="en-US" sz="1600" dirty="0"/>
              <a:t>LINE_COLOR: This variable represents the color of the lines that form the grid on the game board. It determines the color of the lines separating the Tic Tac Toe squares. In this case, the line color is a darker shade of turquoise.</a:t>
            </a:r>
          </a:p>
          <a:p>
            <a:r>
              <a:rPr lang="en-US" sz="1600" dirty="0"/>
              <a:t>CIRCLE_COLOR: This variable represents the color of the circle symbol used when a player marks a square with a circle. It determines the color of the circle outline. In this case, the circle color is a light cream color.</a:t>
            </a:r>
          </a:p>
          <a:p>
            <a:r>
              <a:rPr lang="en-US" sz="1600" dirty="0"/>
              <a:t>CROSS_COLOR: This variable represents the color of the cross symbol used when a player marks a square with a cross. It determines the color of the cross lines. In this case, the cross color is a dark gray color</a:t>
            </a:r>
            <a:r>
              <a:rPr lang="en-US" dirty="0"/>
              <a:t>.</a:t>
            </a:r>
          </a:p>
        </p:txBody>
      </p:sp>
      <p:pic>
        <p:nvPicPr>
          <p:cNvPr id="11" name="Picture 10">
            <a:extLst>
              <a:ext uri="{FF2B5EF4-FFF2-40B4-BE49-F238E27FC236}">
                <a16:creationId xmlns:a16="http://schemas.microsoft.com/office/drawing/2014/main" id="{526D1D16-FEDF-06B5-A388-642ED1DAE081}"/>
              </a:ext>
            </a:extLst>
          </p:cNvPr>
          <p:cNvPicPr>
            <a:picLocks noChangeAspect="1"/>
          </p:cNvPicPr>
          <p:nvPr/>
        </p:nvPicPr>
        <p:blipFill>
          <a:blip r:embed="rId3"/>
          <a:stretch>
            <a:fillRect/>
          </a:stretch>
        </p:blipFill>
        <p:spPr>
          <a:xfrm>
            <a:off x="4413358" y="2793999"/>
            <a:ext cx="1149242" cy="485417"/>
          </a:xfrm>
          <a:prstGeom prst="rect">
            <a:avLst/>
          </a:prstGeom>
        </p:spPr>
      </p:pic>
    </p:spTree>
    <p:extLst>
      <p:ext uri="{BB962C8B-B14F-4D97-AF65-F5344CB8AC3E}">
        <p14:creationId xmlns:p14="http://schemas.microsoft.com/office/powerpoint/2010/main" val="1601324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B833791-3ED8-95C7-59FF-3DECC42A9E9F}"/>
              </a:ext>
            </a:extLst>
          </p:cNvPr>
          <p:cNvPicPr>
            <a:picLocks noGrp="1" noChangeAspect="1"/>
          </p:cNvPicPr>
          <p:nvPr>
            <p:ph idx="1"/>
          </p:nvPr>
        </p:nvPicPr>
        <p:blipFill>
          <a:blip r:embed="rId2"/>
          <a:stretch>
            <a:fillRect/>
          </a:stretch>
        </p:blipFill>
        <p:spPr>
          <a:xfrm>
            <a:off x="5194300" y="1388534"/>
            <a:ext cx="6019800" cy="4080935"/>
          </a:xfrm>
        </p:spPr>
      </p:pic>
      <p:sp>
        <p:nvSpPr>
          <p:cNvPr id="4" name="Text Placeholder 3">
            <a:extLst>
              <a:ext uri="{FF2B5EF4-FFF2-40B4-BE49-F238E27FC236}">
                <a16:creationId xmlns:a16="http://schemas.microsoft.com/office/drawing/2014/main" id="{E7D2D229-35B4-09DD-CD8B-67F88F64AE96}"/>
              </a:ext>
            </a:extLst>
          </p:cNvPr>
          <p:cNvSpPr>
            <a:spLocks noGrp="1"/>
          </p:cNvSpPr>
          <p:nvPr>
            <p:ph type="body" sz="half" idx="2"/>
          </p:nvPr>
        </p:nvSpPr>
        <p:spPr>
          <a:xfrm>
            <a:off x="1306511" y="2319865"/>
            <a:ext cx="2478089" cy="1350435"/>
          </a:xfrm>
          <a:solidFill>
            <a:srgbClr val="FFFF00"/>
          </a:solidFill>
        </p:spPr>
        <p:txBody>
          <a:bodyPr>
            <a:normAutofit/>
          </a:bodyPr>
          <a:lstStyle/>
          <a:p>
            <a:r>
              <a:rPr lang="en-US" dirty="0"/>
              <a:t>No of Rows for the three rows</a:t>
            </a:r>
          </a:p>
          <a:p>
            <a:r>
              <a:rPr lang="en-US" dirty="0"/>
              <a:t>And no of columns  for three columns</a:t>
            </a:r>
          </a:p>
        </p:txBody>
      </p:sp>
      <p:pic>
        <p:nvPicPr>
          <p:cNvPr id="7" name="Picture 6">
            <a:extLst>
              <a:ext uri="{FF2B5EF4-FFF2-40B4-BE49-F238E27FC236}">
                <a16:creationId xmlns:a16="http://schemas.microsoft.com/office/drawing/2014/main" id="{FA574881-FFD1-D236-1024-DA6E08FA4CEC}"/>
              </a:ext>
            </a:extLst>
          </p:cNvPr>
          <p:cNvPicPr>
            <a:picLocks noChangeAspect="1"/>
          </p:cNvPicPr>
          <p:nvPr/>
        </p:nvPicPr>
        <p:blipFill>
          <a:blip r:embed="rId3"/>
          <a:stretch>
            <a:fillRect/>
          </a:stretch>
        </p:blipFill>
        <p:spPr>
          <a:xfrm>
            <a:off x="3784600" y="2616199"/>
            <a:ext cx="2222500" cy="485417"/>
          </a:xfrm>
          <a:prstGeom prst="rect">
            <a:avLst/>
          </a:prstGeom>
        </p:spPr>
      </p:pic>
    </p:spTree>
    <p:extLst>
      <p:ext uri="{BB962C8B-B14F-4D97-AF65-F5344CB8AC3E}">
        <p14:creationId xmlns:p14="http://schemas.microsoft.com/office/powerpoint/2010/main" val="1525595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F8B9E12-141F-6834-3480-8E1CD2CFCA2D}"/>
              </a:ext>
            </a:extLst>
          </p:cNvPr>
          <p:cNvSpPr>
            <a:spLocks noGrp="1"/>
          </p:cNvSpPr>
          <p:nvPr>
            <p:ph type="body" sz="half" idx="2"/>
          </p:nvPr>
        </p:nvSpPr>
        <p:spPr>
          <a:xfrm>
            <a:off x="1230311" y="2484965"/>
            <a:ext cx="3718455" cy="791635"/>
          </a:xfrm>
          <a:solidFill>
            <a:srgbClr val="FFFF00"/>
          </a:solidFill>
        </p:spPr>
        <p:txBody>
          <a:bodyPr/>
          <a:lstStyle/>
          <a:p>
            <a:r>
              <a:rPr lang="en-US" dirty="0"/>
              <a:t>We initialize </a:t>
            </a:r>
            <a:r>
              <a:rPr lang="en-US" dirty="0" err="1"/>
              <a:t>py</a:t>
            </a:r>
            <a:r>
              <a:rPr lang="en-US" dirty="0"/>
              <a:t> game constructor</a:t>
            </a:r>
          </a:p>
        </p:txBody>
      </p:sp>
      <p:pic>
        <p:nvPicPr>
          <p:cNvPr id="10" name="Content Placeholder 9">
            <a:extLst>
              <a:ext uri="{FF2B5EF4-FFF2-40B4-BE49-F238E27FC236}">
                <a16:creationId xmlns:a16="http://schemas.microsoft.com/office/drawing/2014/main" id="{7E55EF8E-88FB-8C13-16D0-F034EE0BEFF0}"/>
              </a:ext>
            </a:extLst>
          </p:cNvPr>
          <p:cNvPicPr>
            <a:picLocks noGrp="1" noChangeAspect="1"/>
          </p:cNvPicPr>
          <p:nvPr>
            <p:ph idx="1"/>
          </p:nvPr>
        </p:nvPicPr>
        <p:blipFill>
          <a:blip r:embed="rId2"/>
          <a:stretch>
            <a:fillRect/>
          </a:stretch>
        </p:blipFill>
        <p:spPr>
          <a:xfrm>
            <a:off x="5635264" y="1388533"/>
            <a:ext cx="4893035" cy="4080935"/>
          </a:xfrm>
        </p:spPr>
      </p:pic>
    </p:spTree>
    <p:extLst>
      <p:ext uri="{BB962C8B-B14F-4D97-AF65-F5344CB8AC3E}">
        <p14:creationId xmlns:p14="http://schemas.microsoft.com/office/powerpoint/2010/main" val="873323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9C915CF-213B-20F9-DA47-C7F216B2CA3D}"/>
              </a:ext>
            </a:extLst>
          </p:cNvPr>
          <p:cNvPicPr>
            <a:picLocks noGrp="1" noChangeAspect="1"/>
          </p:cNvPicPr>
          <p:nvPr>
            <p:ph idx="1"/>
          </p:nvPr>
        </p:nvPicPr>
        <p:blipFill>
          <a:blip r:embed="rId2"/>
          <a:stretch>
            <a:fillRect/>
          </a:stretch>
        </p:blipFill>
        <p:spPr>
          <a:xfrm>
            <a:off x="5397500" y="1388533"/>
            <a:ext cx="4322981" cy="4080935"/>
          </a:xfrm>
        </p:spPr>
      </p:pic>
      <p:sp>
        <p:nvSpPr>
          <p:cNvPr id="11" name="TextBox 10">
            <a:extLst>
              <a:ext uri="{FF2B5EF4-FFF2-40B4-BE49-F238E27FC236}">
                <a16:creationId xmlns:a16="http://schemas.microsoft.com/office/drawing/2014/main" id="{D90C70B8-7C59-0D71-094C-D4931682CA6F}"/>
              </a:ext>
            </a:extLst>
          </p:cNvPr>
          <p:cNvSpPr txBox="1"/>
          <p:nvPr/>
        </p:nvSpPr>
        <p:spPr>
          <a:xfrm>
            <a:off x="909419" y="861748"/>
            <a:ext cx="4143375" cy="5355312"/>
          </a:xfrm>
          <a:prstGeom prst="rect">
            <a:avLst/>
          </a:prstGeom>
          <a:solidFill>
            <a:srgbClr val="FFFF00"/>
          </a:solidFill>
        </p:spPr>
        <p:txBody>
          <a:bodyPr wrap="square">
            <a:spAutoFit/>
          </a:bodyPr>
          <a:lstStyle/>
          <a:p>
            <a:r>
              <a:rPr lang="en-US" dirty="0"/>
              <a:t>screen = </a:t>
            </a:r>
            <a:r>
              <a:rPr lang="en-US" dirty="0" err="1"/>
              <a:t>pygame.display.set_mode</a:t>
            </a:r>
            <a:r>
              <a:rPr lang="en-US" dirty="0"/>
              <a:t>((WIDTH, HEIGHT)): This line creates a </a:t>
            </a:r>
            <a:r>
              <a:rPr lang="en-US" dirty="0" err="1"/>
              <a:t>Pygame</a:t>
            </a:r>
            <a:r>
              <a:rPr lang="en-US" dirty="0"/>
              <a:t> display surface with the specified width and height. The WIDTH and HEIGHT constants define the dimensions of the game window. This surface will be used to draw all the game graphics.</a:t>
            </a:r>
          </a:p>
          <a:p>
            <a:r>
              <a:rPr lang="en-US" dirty="0" err="1"/>
              <a:t>pygame.display.set_caption</a:t>
            </a:r>
            <a:r>
              <a:rPr lang="en-US" dirty="0"/>
              <a:t>('Tic Tac Toe AI'): This line sets the title or caption of the game window. In this case, it sets the caption to 'Tic Tac Toe AI', which will be displayed in the title bar of the game window.</a:t>
            </a:r>
          </a:p>
          <a:p>
            <a:r>
              <a:rPr lang="en-US" dirty="0" err="1"/>
              <a:t>screen.fill</a:t>
            </a:r>
            <a:r>
              <a:rPr lang="en-US" dirty="0"/>
              <a:t>(BG_COLOR): This line fills the entire game window with the background color defined by the BG_COLOR constant. It effectively sets the background color of the game window to the specified color.</a:t>
            </a:r>
          </a:p>
        </p:txBody>
      </p:sp>
    </p:spTree>
    <p:extLst>
      <p:ext uri="{BB962C8B-B14F-4D97-AF65-F5344CB8AC3E}">
        <p14:creationId xmlns:p14="http://schemas.microsoft.com/office/powerpoint/2010/main" val="2546186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1DDB838-D2EB-2AD0-8C6A-E139A75F1F73}"/>
              </a:ext>
            </a:extLst>
          </p:cNvPr>
          <p:cNvPicPr>
            <a:picLocks noGrp="1" noChangeAspect="1"/>
          </p:cNvPicPr>
          <p:nvPr>
            <p:ph idx="1"/>
          </p:nvPr>
        </p:nvPicPr>
        <p:blipFill>
          <a:blip r:embed="rId2"/>
          <a:stretch>
            <a:fillRect/>
          </a:stretch>
        </p:blipFill>
        <p:spPr>
          <a:xfrm>
            <a:off x="5194300" y="581025"/>
            <a:ext cx="6483350" cy="5695949"/>
          </a:xfrm>
        </p:spPr>
      </p:pic>
      <p:sp>
        <p:nvSpPr>
          <p:cNvPr id="9" name="TextBox 8">
            <a:extLst>
              <a:ext uri="{FF2B5EF4-FFF2-40B4-BE49-F238E27FC236}">
                <a16:creationId xmlns:a16="http://schemas.microsoft.com/office/drawing/2014/main" id="{2769BE1A-663C-D92D-767B-D191FAEE357A}"/>
              </a:ext>
            </a:extLst>
          </p:cNvPr>
          <p:cNvSpPr txBox="1"/>
          <p:nvPr/>
        </p:nvSpPr>
        <p:spPr>
          <a:xfrm>
            <a:off x="790575" y="612844"/>
            <a:ext cx="4057650" cy="5632311"/>
          </a:xfrm>
          <a:prstGeom prst="rect">
            <a:avLst/>
          </a:prstGeom>
          <a:noFill/>
        </p:spPr>
        <p:txBody>
          <a:bodyPr wrap="square">
            <a:spAutoFit/>
          </a:bodyPr>
          <a:lstStyle/>
          <a:p>
            <a:r>
              <a:rPr lang="en-US" dirty="0">
                <a:highlight>
                  <a:srgbClr val="FFFF00"/>
                </a:highlight>
              </a:rPr>
              <a:t>Checking Rows and Columns: It iterates over each row and column to check for winning combinations. If there is a row or column where all three squares have the same non-zero value (indicating that they are marked by the same player), it returns that player's mark as the winner.</a:t>
            </a:r>
          </a:p>
          <a:p>
            <a:r>
              <a:rPr lang="en-US" dirty="0">
                <a:highlight>
                  <a:srgbClr val="FFFF00"/>
                </a:highlight>
              </a:rPr>
              <a:t>Checking Diagonals: It checks both diagonal lines for winning combinations. If either diagonal has all three squares marked by the same player, it returns that player's mark as the winner.</a:t>
            </a:r>
          </a:p>
          <a:p>
            <a:r>
              <a:rPr lang="en-US" dirty="0">
                <a:highlight>
                  <a:srgbClr val="FFFF00"/>
                </a:highlight>
              </a:rPr>
              <a:t>Checking for a Draw: If none of the above conditions are met and the mark count is equal to 9 (indicating that all squares on the board are filled), it returns 0 to indicate a draw.</a:t>
            </a:r>
          </a:p>
          <a:p>
            <a:r>
              <a:rPr lang="en-US" dirty="0">
                <a:highlight>
                  <a:srgbClr val="FFFF00"/>
                </a:highlight>
              </a:rPr>
              <a:t>Returning None: If the game is not over yet (i.e., none of the above conditions are met), it returns None</a:t>
            </a:r>
          </a:p>
        </p:txBody>
      </p:sp>
    </p:spTree>
    <p:extLst>
      <p:ext uri="{BB962C8B-B14F-4D97-AF65-F5344CB8AC3E}">
        <p14:creationId xmlns:p14="http://schemas.microsoft.com/office/powerpoint/2010/main" val="2389952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294A0B20-21A0-D13E-1AE0-64A64E334197}"/>
              </a:ext>
            </a:extLst>
          </p:cNvPr>
          <p:cNvPicPr>
            <a:picLocks noGrp="1" noChangeAspect="1"/>
          </p:cNvPicPr>
          <p:nvPr>
            <p:ph idx="1"/>
          </p:nvPr>
        </p:nvPicPr>
        <p:blipFill>
          <a:blip r:embed="rId2"/>
          <a:stretch>
            <a:fillRect/>
          </a:stretch>
        </p:blipFill>
        <p:spPr>
          <a:xfrm>
            <a:off x="6409184" y="982663"/>
            <a:ext cx="3488432" cy="4892675"/>
          </a:xfrm>
        </p:spPr>
      </p:pic>
      <p:sp>
        <p:nvSpPr>
          <p:cNvPr id="8" name="TextBox 7">
            <a:extLst>
              <a:ext uri="{FF2B5EF4-FFF2-40B4-BE49-F238E27FC236}">
                <a16:creationId xmlns:a16="http://schemas.microsoft.com/office/drawing/2014/main" id="{4E2C6FA4-39E5-3198-3800-20685BA35E92}"/>
              </a:ext>
            </a:extLst>
          </p:cNvPr>
          <p:cNvSpPr txBox="1"/>
          <p:nvPr/>
        </p:nvSpPr>
        <p:spPr>
          <a:xfrm>
            <a:off x="1095375" y="982663"/>
            <a:ext cx="5000625" cy="2585323"/>
          </a:xfrm>
          <a:prstGeom prst="rect">
            <a:avLst/>
          </a:prstGeom>
          <a:solidFill>
            <a:srgbClr val="FFFF00"/>
          </a:solidFill>
        </p:spPr>
        <p:txBody>
          <a:bodyPr wrap="square">
            <a:spAutoFit/>
          </a:bodyPr>
          <a:lstStyle/>
          <a:p>
            <a:r>
              <a:rPr lang="en-US" dirty="0"/>
              <a:t>This method marks a square on the board with the specified player's mark.</a:t>
            </a:r>
          </a:p>
          <a:p>
            <a:r>
              <a:rPr lang="en-US" dirty="0"/>
              <a:t>It takes three arguments: row (the row index of the square), col (the column index of the square), and player (the player's mark).</a:t>
            </a:r>
          </a:p>
          <a:p>
            <a:r>
              <a:rPr lang="en-US" dirty="0"/>
              <a:t>It updates the corresponding element in the </a:t>
            </a:r>
            <a:r>
              <a:rPr lang="en-US" dirty="0" err="1"/>
              <a:t>self.squares</a:t>
            </a:r>
            <a:r>
              <a:rPr lang="en-US" dirty="0"/>
              <a:t> array to the player's mark.</a:t>
            </a:r>
          </a:p>
          <a:p>
            <a:r>
              <a:rPr lang="en-US" dirty="0"/>
              <a:t>It increments </a:t>
            </a:r>
            <a:r>
              <a:rPr lang="en-US" dirty="0" err="1"/>
              <a:t>self.mark_count</a:t>
            </a:r>
            <a:r>
              <a:rPr lang="en-US" dirty="0"/>
              <a:t> to keep track of the total number of marks made on the board.</a:t>
            </a:r>
          </a:p>
        </p:txBody>
      </p:sp>
      <p:sp>
        <p:nvSpPr>
          <p:cNvPr id="10" name="TextBox 9">
            <a:extLst>
              <a:ext uri="{FF2B5EF4-FFF2-40B4-BE49-F238E27FC236}">
                <a16:creationId xmlns:a16="http://schemas.microsoft.com/office/drawing/2014/main" id="{9D645E3F-7D88-F450-D0D0-3FCA3F2B3520}"/>
              </a:ext>
            </a:extLst>
          </p:cNvPr>
          <p:cNvSpPr txBox="1"/>
          <p:nvPr/>
        </p:nvSpPr>
        <p:spPr>
          <a:xfrm>
            <a:off x="1095375" y="3728561"/>
            <a:ext cx="5000625" cy="1754326"/>
          </a:xfrm>
          <a:prstGeom prst="rect">
            <a:avLst/>
          </a:prstGeom>
          <a:solidFill>
            <a:srgbClr val="FFFF00"/>
          </a:solidFill>
        </p:spPr>
        <p:txBody>
          <a:bodyPr wrap="square">
            <a:spAutoFit/>
          </a:bodyPr>
          <a:lstStyle/>
          <a:p>
            <a:r>
              <a:rPr lang="en-US" dirty="0"/>
              <a:t>This method checks if a specific square on the board is empty (i.e., not marked by any player).</a:t>
            </a:r>
          </a:p>
          <a:p>
            <a:r>
              <a:rPr lang="en-US" dirty="0"/>
              <a:t>It takes row and col as arguments, representing the coordinates of the square to check.</a:t>
            </a:r>
          </a:p>
          <a:p>
            <a:r>
              <a:rPr lang="en-US" dirty="0"/>
              <a:t>It returns True if the square is empty, and False otherwise.</a:t>
            </a:r>
          </a:p>
        </p:txBody>
      </p:sp>
    </p:spTree>
    <p:extLst>
      <p:ext uri="{BB962C8B-B14F-4D97-AF65-F5344CB8AC3E}">
        <p14:creationId xmlns:p14="http://schemas.microsoft.com/office/powerpoint/2010/main" val="1591724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6AFE3BD-5909-0C88-7B87-BCEF4F37F22A}"/>
              </a:ext>
            </a:extLst>
          </p:cNvPr>
          <p:cNvSpPr txBox="1"/>
          <p:nvPr/>
        </p:nvSpPr>
        <p:spPr>
          <a:xfrm>
            <a:off x="1123950" y="1498164"/>
            <a:ext cx="3619500" cy="3693319"/>
          </a:xfrm>
          <a:prstGeom prst="rect">
            <a:avLst/>
          </a:prstGeom>
          <a:solidFill>
            <a:srgbClr val="FFFF00"/>
          </a:solidFill>
        </p:spPr>
        <p:txBody>
          <a:bodyPr wrap="square">
            <a:spAutoFit/>
          </a:bodyPr>
          <a:lstStyle/>
          <a:p>
            <a:r>
              <a:rPr lang="en-US" dirty="0"/>
              <a:t>This method returns a list of coordinates for all the empty squares on the board.</a:t>
            </a:r>
          </a:p>
          <a:p>
            <a:r>
              <a:rPr lang="en-US" dirty="0"/>
              <a:t>It iterates over each square on the board and checks if it's empty using the </a:t>
            </a:r>
            <a:r>
              <a:rPr lang="en-US" dirty="0" err="1"/>
              <a:t>emptysquare</a:t>
            </a:r>
            <a:r>
              <a:rPr lang="en-US" dirty="0"/>
              <a:t> method.</a:t>
            </a:r>
          </a:p>
          <a:p>
            <a:r>
              <a:rPr lang="en-US" dirty="0"/>
              <a:t>If a square is empty, its coordinates (row, col) are added to the </a:t>
            </a:r>
            <a:r>
              <a:rPr lang="en-US" dirty="0" err="1"/>
              <a:t>empty_squares</a:t>
            </a:r>
            <a:r>
              <a:rPr lang="en-US" dirty="0"/>
              <a:t> list.</a:t>
            </a:r>
          </a:p>
          <a:p>
            <a:r>
              <a:rPr lang="en-US" dirty="0"/>
              <a:t>Finally, it returns the list of empty square coordinates.</a:t>
            </a:r>
          </a:p>
          <a:p>
            <a:endParaRPr lang="en-US" dirty="0"/>
          </a:p>
          <a:p>
            <a:endParaRPr lang="en-US" dirty="0"/>
          </a:p>
        </p:txBody>
      </p:sp>
      <p:pic>
        <p:nvPicPr>
          <p:cNvPr id="9" name="Content Placeholder 5">
            <a:extLst>
              <a:ext uri="{FF2B5EF4-FFF2-40B4-BE49-F238E27FC236}">
                <a16:creationId xmlns:a16="http://schemas.microsoft.com/office/drawing/2014/main" id="{690F9CDC-D2F8-106C-E45E-657A42506DA6}"/>
              </a:ext>
            </a:extLst>
          </p:cNvPr>
          <p:cNvPicPr>
            <a:picLocks noChangeAspect="1"/>
          </p:cNvPicPr>
          <p:nvPr/>
        </p:nvPicPr>
        <p:blipFill>
          <a:blip r:embed="rId2"/>
          <a:stretch>
            <a:fillRect/>
          </a:stretch>
        </p:blipFill>
        <p:spPr>
          <a:xfrm>
            <a:off x="6409184" y="982663"/>
            <a:ext cx="3488432" cy="4892675"/>
          </a:xfrm>
          <a:prstGeom prst="rect">
            <a:avLst/>
          </a:prstGeom>
        </p:spPr>
      </p:pic>
    </p:spTree>
    <p:extLst>
      <p:ext uri="{BB962C8B-B14F-4D97-AF65-F5344CB8AC3E}">
        <p14:creationId xmlns:p14="http://schemas.microsoft.com/office/powerpoint/2010/main" val="1189668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1BE9380-9852-4571-882D-B09313F916CA}"/>
              </a:ext>
            </a:extLst>
          </p:cNvPr>
          <p:cNvSpPr txBox="1"/>
          <p:nvPr/>
        </p:nvSpPr>
        <p:spPr>
          <a:xfrm>
            <a:off x="722086" y="942929"/>
            <a:ext cx="4546600" cy="5262979"/>
          </a:xfrm>
          <a:prstGeom prst="rect">
            <a:avLst/>
          </a:prstGeom>
          <a:solidFill>
            <a:srgbClr val="FFFF00"/>
          </a:solidFill>
        </p:spPr>
        <p:txBody>
          <a:bodyPr wrap="square">
            <a:spAutoFit/>
          </a:bodyPr>
          <a:lstStyle/>
          <a:p>
            <a:r>
              <a:rPr lang="en-US" sz="1400" dirty="0"/>
              <a:t>__</a:t>
            </a:r>
            <a:r>
              <a:rPr lang="en-US" sz="1400" dirty="0" err="1"/>
              <a:t>init</a:t>
            </a:r>
            <a:r>
              <a:rPr lang="en-US" sz="1400" dirty="0"/>
              <a:t>__(self, player):</a:t>
            </a:r>
          </a:p>
          <a:p>
            <a:r>
              <a:rPr lang="en-US" sz="1400" dirty="0"/>
              <a:t>Purpose: Initializes an instance of the AI class with the specified player number.</a:t>
            </a:r>
          </a:p>
          <a:p>
            <a:r>
              <a:rPr lang="en-US" sz="1400" dirty="0"/>
              <a:t>Parameters:</a:t>
            </a:r>
          </a:p>
          <a:p>
            <a:r>
              <a:rPr lang="en-US" sz="1400" dirty="0"/>
              <a:t>player: An integer representing the player number (1 or 2).</a:t>
            </a:r>
          </a:p>
          <a:p>
            <a:r>
              <a:rPr lang="en-US" sz="1400" dirty="0"/>
              <a:t>Description: This method sets the player attribute of the AI instance to the specified player number.</a:t>
            </a:r>
          </a:p>
          <a:p>
            <a:r>
              <a:rPr lang="en-US" sz="1400" dirty="0"/>
              <a:t>minimax(self, board, depth, maximizing, alpha, beta):</a:t>
            </a:r>
          </a:p>
          <a:p>
            <a:r>
              <a:rPr lang="en-US" sz="1400" dirty="0"/>
              <a:t>Purpose: Implements the Minimax algorithm to determine the optimal move for the AI player.</a:t>
            </a:r>
          </a:p>
          <a:p>
            <a:r>
              <a:rPr lang="en-US" sz="1400" dirty="0"/>
              <a:t>Parameters:</a:t>
            </a:r>
          </a:p>
          <a:p>
            <a:r>
              <a:rPr lang="en-US" sz="1400" dirty="0"/>
              <a:t>board: An instance of the Board class representing the current game state.</a:t>
            </a:r>
          </a:p>
          <a:p>
            <a:r>
              <a:rPr lang="en-US" sz="1400" dirty="0"/>
              <a:t>depth: An integer representing the depth of recursion in the Minimax algorithm.</a:t>
            </a:r>
          </a:p>
          <a:p>
            <a:r>
              <a:rPr lang="en-US" sz="1400" dirty="0"/>
              <a:t>maximizing: A </a:t>
            </a:r>
            <a:r>
              <a:rPr lang="en-US" sz="1400" dirty="0" err="1"/>
              <a:t>boolean</a:t>
            </a:r>
            <a:r>
              <a:rPr lang="en-US" sz="1400" dirty="0"/>
              <a:t> indicating whether the AI player is maximizing or minimizing.</a:t>
            </a:r>
          </a:p>
          <a:p>
            <a:r>
              <a:rPr lang="en-US" sz="1400" dirty="0"/>
              <a:t>alpha and beta: Parameters for alpha-beta pruning, used to optimize the search process.</a:t>
            </a:r>
          </a:p>
          <a:p>
            <a:r>
              <a:rPr lang="en-US" sz="1400" dirty="0"/>
              <a:t>Description: This method recursively evaluates all possible moves on the board and assigns a score to each move. It uses alpha-beta pruning to optimize the search process by eliminating unnecessary branches of the game tree. It returns the best score for the AI player.</a:t>
            </a:r>
          </a:p>
        </p:txBody>
      </p:sp>
      <p:pic>
        <p:nvPicPr>
          <p:cNvPr id="6" name="Picture 5">
            <a:extLst>
              <a:ext uri="{FF2B5EF4-FFF2-40B4-BE49-F238E27FC236}">
                <a16:creationId xmlns:a16="http://schemas.microsoft.com/office/drawing/2014/main" id="{E04758D8-F16B-0E34-C8C1-EAAD11A151E4}"/>
              </a:ext>
            </a:extLst>
          </p:cNvPr>
          <p:cNvPicPr>
            <a:picLocks noChangeAspect="1"/>
          </p:cNvPicPr>
          <p:nvPr/>
        </p:nvPicPr>
        <p:blipFill>
          <a:blip r:embed="rId2"/>
          <a:stretch>
            <a:fillRect/>
          </a:stretch>
        </p:blipFill>
        <p:spPr>
          <a:xfrm>
            <a:off x="5762604" y="951318"/>
            <a:ext cx="5707309" cy="5262979"/>
          </a:xfrm>
          <a:prstGeom prst="rect">
            <a:avLst/>
          </a:prstGeom>
        </p:spPr>
      </p:pic>
    </p:spTree>
    <p:extLst>
      <p:ext uri="{BB962C8B-B14F-4D97-AF65-F5344CB8AC3E}">
        <p14:creationId xmlns:p14="http://schemas.microsoft.com/office/powerpoint/2010/main" val="3863588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B0CFC1-DD07-336E-58CA-7FCFEC39C7DC}"/>
              </a:ext>
            </a:extLst>
          </p:cNvPr>
          <p:cNvSpPr txBox="1"/>
          <p:nvPr/>
        </p:nvSpPr>
        <p:spPr>
          <a:xfrm>
            <a:off x="923589" y="2103068"/>
            <a:ext cx="5228770" cy="2862322"/>
          </a:xfrm>
          <a:prstGeom prst="rect">
            <a:avLst/>
          </a:prstGeom>
          <a:solidFill>
            <a:srgbClr val="FFFF00"/>
          </a:solidFill>
        </p:spPr>
        <p:txBody>
          <a:bodyPr wrap="square">
            <a:spAutoFit/>
          </a:bodyPr>
          <a:lstStyle/>
          <a:p>
            <a:r>
              <a:rPr lang="en-US" dirty="0" err="1"/>
              <a:t>get_best_move</a:t>
            </a:r>
            <a:r>
              <a:rPr lang="en-US" dirty="0"/>
              <a:t>(self, board):</a:t>
            </a:r>
          </a:p>
          <a:p>
            <a:r>
              <a:rPr lang="en-US" dirty="0"/>
              <a:t>Purpose: Finds the best move for the AI player using the Minimax algorithm.</a:t>
            </a:r>
          </a:p>
          <a:p>
            <a:r>
              <a:rPr lang="en-US" dirty="0"/>
              <a:t>Parameters:</a:t>
            </a:r>
          </a:p>
          <a:p>
            <a:r>
              <a:rPr lang="en-US" dirty="0"/>
              <a:t>board: An instance of the Board class representing the current game state.</a:t>
            </a:r>
          </a:p>
          <a:p>
            <a:r>
              <a:rPr lang="en-US" dirty="0"/>
              <a:t>Description: This method evaluates all possible moves on the board using the minimax method and selects the move with the highest score for the AI player. It returns the coordinates of the best move.</a:t>
            </a:r>
          </a:p>
        </p:txBody>
      </p:sp>
      <p:pic>
        <p:nvPicPr>
          <p:cNvPr id="4" name="Picture 3">
            <a:extLst>
              <a:ext uri="{FF2B5EF4-FFF2-40B4-BE49-F238E27FC236}">
                <a16:creationId xmlns:a16="http://schemas.microsoft.com/office/drawing/2014/main" id="{4C301754-68ED-C6AD-8AD9-7B0EF53D5E91}"/>
              </a:ext>
            </a:extLst>
          </p:cNvPr>
          <p:cNvPicPr>
            <a:picLocks noChangeAspect="1"/>
          </p:cNvPicPr>
          <p:nvPr/>
        </p:nvPicPr>
        <p:blipFill>
          <a:blip r:embed="rId2"/>
          <a:stretch>
            <a:fillRect/>
          </a:stretch>
        </p:blipFill>
        <p:spPr>
          <a:xfrm>
            <a:off x="6342077" y="587230"/>
            <a:ext cx="5228770" cy="5670958"/>
          </a:xfrm>
          <a:prstGeom prst="rect">
            <a:avLst/>
          </a:prstGeom>
        </p:spPr>
      </p:pic>
    </p:spTree>
    <p:extLst>
      <p:ext uri="{BB962C8B-B14F-4D97-AF65-F5344CB8AC3E}">
        <p14:creationId xmlns:p14="http://schemas.microsoft.com/office/powerpoint/2010/main" val="3877781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9980AF-5DBF-FB64-73BD-6879ECE5A8FE}"/>
              </a:ext>
            </a:extLst>
          </p:cNvPr>
          <p:cNvSpPr txBox="1"/>
          <p:nvPr/>
        </p:nvSpPr>
        <p:spPr>
          <a:xfrm>
            <a:off x="780144" y="751344"/>
            <a:ext cx="6117770" cy="5355312"/>
          </a:xfrm>
          <a:prstGeom prst="rect">
            <a:avLst/>
          </a:prstGeom>
          <a:solidFill>
            <a:srgbClr val="FFFF00"/>
          </a:solidFill>
        </p:spPr>
        <p:txBody>
          <a:bodyPr wrap="square">
            <a:spAutoFit/>
          </a:bodyPr>
          <a:lstStyle/>
          <a:p>
            <a:r>
              <a:rPr lang="en-US" dirty="0" err="1"/>
              <a:t>get_winning_move</a:t>
            </a:r>
            <a:r>
              <a:rPr lang="en-US" dirty="0"/>
              <a:t>(self, board):</a:t>
            </a:r>
          </a:p>
          <a:p>
            <a:r>
              <a:rPr lang="en-US" dirty="0"/>
              <a:t>Purpose: Finds a winning move for the AI player if such a move exists.</a:t>
            </a:r>
          </a:p>
          <a:p>
            <a:r>
              <a:rPr lang="en-US" dirty="0"/>
              <a:t>Parameters:</a:t>
            </a:r>
          </a:p>
          <a:p>
            <a:r>
              <a:rPr lang="en-US" dirty="0"/>
              <a:t>board: An instance of the Board class representing the current game state.</a:t>
            </a:r>
          </a:p>
          <a:p>
            <a:r>
              <a:rPr lang="en-US" dirty="0"/>
              <a:t>Description: This method iterates through all empty squares on the board and simulates marking each square to see if it results in a win for the AI player. If a winning move is found, it returns the coordinates of that move; otherwise, it returns None.</a:t>
            </a:r>
          </a:p>
          <a:p>
            <a:r>
              <a:rPr lang="en-US" dirty="0" err="1"/>
              <a:t>get_blocking_move</a:t>
            </a:r>
            <a:r>
              <a:rPr lang="en-US" dirty="0"/>
              <a:t>(self, board):</a:t>
            </a:r>
          </a:p>
          <a:p>
            <a:r>
              <a:rPr lang="en-US" dirty="0"/>
              <a:t>Purpose: Finds a move to block the opponent from winning.</a:t>
            </a:r>
          </a:p>
          <a:p>
            <a:r>
              <a:rPr lang="en-US" dirty="0"/>
              <a:t>Parameters:</a:t>
            </a:r>
          </a:p>
          <a:p>
            <a:r>
              <a:rPr lang="en-US" dirty="0"/>
              <a:t>board: An instance of the Board class representing the current game state.</a:t>
            </a:r>
          </a:p>
          <a:p>
            <a:r>
              <a:rPr lang="en-US" dirty="0"/>
              <a:t>Description: This method iterates through all empty squares on the board and simulates marking each square to see if it prevents the opponent from winning. If a blocking move is found, it returns the coordinates of that move; otherwise, it returns None.</a:t>
            </a:r>
          </a:p>
        </p:txBody>
      </p:sp>
      <p:pic>
        <p:nvPicPr>
          <p:cNvPr id="5" name="Picture 4">
            <a:extLst>
              <a:ext uri="{FF2B5EF4-FFF2-40B4-BE49-F238E27FC236}">
                <a16:creationId xmlns:a16="http://schemas.microsoft.com/office/drawing/2014/main" id="{89CE9959-D8AF-9C90-2E4F-D13B8AE44CD5}"/>
              </a:ext>
            </a:extLst>
          </p:cNvPr>
          <p:cNvPicPr>
            <a:picLocks noChangeAspect="1"/>
          </p:cNvPicPr>
          <p:nvPr/>
        </p:nvPicPr>
        <p:blipFill>
          <a:blip r:embed="rId2"/>
          <a:stretch>
            <a:fillRect/>
          </a:stretch>
        </p:blipFill>
        <p:spPr>
          <a:xfrm>
            <a:off x="6897914" y="751344"/>
            <a:ext cx="4513942" cy="5355312"/>
          </a:xfrm>
          <a:prstGeom prst="rect">
            <a:avLst/>
          </a:prstGeom>
        </p:spPr>
      </p:pic>
    </p:spTree>
    <p:extLst>
      <p:ext uri="{BB962C8B-B14F-4D97-AF65-F5344CB8AC3E}">
        <p14:creationId xmlns:p14="http://schemas.microsoft.com/office/powerpoint/2010/main" val="797487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5EC142-AECA-5441-F24B-7A93335FBD6D}"/>
              </a:ext>
            </a:extLst>
          </p:cNvPr>
          <p:cNvSpPr txBox="1"/>
          <p:nvPr/>
        </p:nvSpPr>
        <p:spPr>
          <a:xfrm>
            <a:off x="883063" y="1461416"/>
            <a:ext cx="6117770" cy="4524315"/>
          </a:xfrm>
          <a:prstGeom prst="rect">
            <a:avLst/>
          </a:prstGeom>
          <a:solidFill>
            <a:srgbClr val="FFFF00"/>
          </a:solidFill>
        </p:spPr>
        <p:txBody>
          <a:bodyPr wrap="square">
            <a:spAutoFit/>
          </a:bodyPr>
          <a:lstStyle/>
          <a:p>
            <a:r>
              <a:rPr lang="en-US" dirty="0" err="1"/>
              <a:t>get_center_move</a:t>
            </a:r>
            <a:r>
              <a:rPr lang="en-US" dirty="0"/>
              <a:t>(self, board):</a:t>
            </a:r>
          </a:p>
          <a:p>
            <a:r>
              <a:rPr lang="en-US" dirty="0"/>
              <a:t>Purpose: Finds a move to occupy the center square if available.</a:t>
            </a:r>
          </a:p>
          <a:p>
            <a:r>
              <a:rPr lang="en-US" dirty="0"/>
              <a:t>Parameters:</a:t>
            </a:r>
          </a:p>
          <a:p>
            <a:r>
              <a:rPr lang="en-US" dirty="0"/>
              <a:t>board: An instance of the Board class representing the current game state.</a:t>
            </a:r>
          </a:p>
          <a:p>
            <a:r>
              <a:rPr lang="en-US" dirty="0"/>
              <a:t>Description: This method checks if the center square of the board is empty. If it is, it returns the coordinates (1, 1); otherwise, it returns None.</a:t>
            </a:r>
          </a:p>
          <a:p>
            <a:r>
              <a:rPr lang="en-US" dirty="0" err="1"/>
              <a:t>get_random_move</a:t>
            </a:r>
            <a:r>
              <a:rPr lang="en-US" dirty="0"/>
              <a:t>(self, board):</a:t>
            </a:r>
          </a:p>
          <a:p>
            <a:r>
              <a:rPr lang="en-US" dirty="0"/>
              <a:t>Purpose: Finds a random move for the AI player.</a:t>
            </a:r>
          </a:p>
          <a:p>
            <a:r>
              <a:rPr lang="en-US" dirty="0"/>
              <a:t>Parameters:</a:t>
            </a:r>
          </a:p>
          <a:p>
            <a:r>
              <a:rPr lang="en-US" dirty="0"/>
              <a:t>board: An instance of the Board class representing the current game state.</a:t>
            </a:r>
          </a:p>
          <a:p>
            <a:r>
              <a:rPr lang="en-US" dirty="0"/>
              <a:t>Description: This method selects a random empty square on the board and returns its coordinates. It is used as a fallback strategy when other, more strategic moves are not available.</a:t>
            </a:r>
          </a:p>
        </p:txBody>
      </p:sp>
      <p:pic>
        <p:nvPicPr>
          <p:cNvPr id="4" name="Picture 3">
            <a:extLst>
              <a:ext uri="{FF2B5EF4-FFF2-40B4-BE49-F238E27FC236}">
                <a16:creationId xmlns:a16="http://schemas.microsoft.com/office/drawing/2014/main" id="{44C31053-C282-68B2-A928-9CD0A44BCD1A}"/>
              </a:ext>
            </a:extLst>
          </p:cNvPr>
          <p:cNvPicPr>
            <a:picLocks noChangeAspect="1"/>
          </p:cNvPicPr>
          <p:nvPr/>
        </p:nvPicPr>
        <p:blipFill>
          <a:blip r:embed="rId2"/>
          <a:stretch>
            <a:fillRect/>
          </a:stretch>
        </p:blipFill>
        <p:spPr>
          <a:xfrm>
            <a:off x="7000833" y="633741"/>
            <a:ext cx="4816257" cy="5590517"/>
          </a:xfrm>
          <a:prstGeom prst="rect">
            <a:avLst/>
          </a:prstGeom>
        </p:spPr>
      </p:pic>
    </p:spTree>
    <p:extLst>
      <p:ext uri="{BB962C8B-B14F-4D97-AF65-F5344CB8AC3E}">
        <p14:creationId xmlns:p14="http://schemas.microsoft.com/office/powerpoint/2010/main" val="4257230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085132-DF01-16CB-F5E3-04D86068B9EE}"/>
              </a:ext>
            </a:extLst>
          </p:cNvPr>
          <p:cNvPicPr>
            <a:picLocks noChangeAspect="1"/>
          </p:cNvPicPr>
          <p:nvPr/>
        </p:nvPicPr>
        <p:blipFill>
          <a:blip r:embed="rId2"/>
          <a:stretch>
            <a:fillRect/>
          </a:stretch>
        </p:blipFill>
        <p:spPr>
          <a:xfrm>
            <a:off x="6096000" y="813732"/>
            <a:ext cx="5188527" cy="5554628"/>
          </a:xfrm>
          <a:prstGeom prst="rect">
            <a:avLst/>
          </a:prstGeom>
        </p:spPr>
      </p:pic>
      <p:sp>
        <p:nvSpPr>
          <p:cNvPr id="5" name="TextBox 4">
            <a:extLst>
              <a:ext uri="{FF2B5EF4-FFF2-40B4-BE49-F238E27FC236}">
                <a16:creationId xmlns:a16="http://schemas.microsoft.com/office/drawing/2014/main" id="{0A7E232D-EE0E-807D-C481-92DD1828FDD6}"/>
              </a:ext>
            </a:extLst>
          </p:cNvPr>
          <p:cNvSpPr txBox="1"/>
          <p:nvPr/>
        </p:nvSpPr>
        <p:spPr>
          <a:xfrm>
            <a:off x="907473" y="602673"/>
            <a:ext cx="4932218" cy="5909310"/>
          </a:xfrm>
          <a:prstGeom prst="rect">
            <a:avLst/>
          </a:prstGeom>
          <a:solidFill>
            <a:srgbClr val="FFFF00"/>
          </a:solidFill>
        </p:spPr>
        <p:txBody>
          <a:bodyPr wrap="square">
            <a:spAutoFit/>
          </a:bodyPr>
          <a:lstStyle/>
          <a:p>
            <a:r>
              <a:rPr lang="en-US" dirty="0"/>
              <a:t>Here's an explanation of each method in the `Game` class:</a:t>
            </a:r>
          </a:p>
          <a:p>
            <a:endParaRPr lang="en-US" dirty="0"/>
          </a:p>
          <a:p>
            <a:r>
              <a:rPr lang="en-US" dirty="0"/>
              <a:t>1. **`__</a:t>
            </a:r>
            <a:r>
              <a:rPr lang="en-US" dirty="0" err="1"/>
              <a:t>init</a:t>
            </a:r>
            <a:r>
              <a:rPr lang="en-US" dirty="0"/>
              <a:t>__(self)`**:</a:t>
            </a:r>
          </a:p>
          <a:p>
            <a:r>
              <a:rPr lang="en-US" dirty="0"/>
              <a:t>   - **Purpose**: Initializes a new instance of the `Game` class.</a:t>
            </a:r>
          </a:p>
          <a:p>
            <a:r>
              <a:rPr lang="en-US" dirty="0"/>
              <a:t>   - **Description**: Creates a new `Board` object to represent the game board, initializes an AI player with player number 2, sets the current player to 1 (human player), sets the `running` flag to `True` to control the game loop, and calls the `</a:t>
            </a:r>
            <a:r>
              <a:rPr lang="en-US" dirty="0" err="1"/>
              <a:t>show_lines</a:t>
            </a:r>
            <a:r>
              <a:rPr lang="en-US" dirty="0"/>
              <a:t>()` method to display grid lines on the game board.</a:t>
            </a:r>
          </a:p>
          <a:p>
            <a:endParaRPr lang="en-US" dirty="0"/>
          </a:p>
          <a:p>
            <a:r>
              <a:rPr lang="en-US" dirty="0"/>
              <a:t>2. **`</a:t>
            </a:r>
            <a:r>
              <a:rPr lang="en-US" dirty="0" err="1"/>
              <a:t>show_lines</a:t>
            </a:r>
            <a:r>
              <a:rPr lang="en-US" dirty="0"/>
              <a:t>(self)`**:</a:t>
            </a:r>
          </a:p>
          <a:p>
            <a:r>
              <a:rPr lang="en-US" dirty="0"/>
              <a:t>   - **Purpose**: Draws grid lines on the game board.</a:t>
            </a:r>
          </a:p>
          <a:p>
            <a:r>
              <a:rPr lang="en-US" dirty="0"/>
              <a:t>   - **Description**: Uses </a:t>
            </a:r>
            <a:r>
              <a:rPr lang="en-US" dirty="0" err="1"/>
              <a:t>Pygame's</a:t>
            </a:r>
            <a:r>
              <a:rPr lang="en-US" dirty="0"/>
              <a:t> `</a:t>
            </a:r>
            <a:r>
              <a:rPr lang="en-US" dirty="0" err="1"/>
              <a:t>draw.line</a:t>
            </a:r>
            <a:r>
              <a:rPr lang="en-US" dirty="0"/>
              <a:t>()` method to draw horizontal and vertical lines to divide the game board into a 3x3 grid.</a:t>
            </a:r>
          </a:p>
          <a:p>
            <a:endParaRPr lang="en-US" dirty="0"/>
          </a:p>
          <a:p>
            <a:endParaRPr lang="en-US" dirty="0"/>
          </a:p>
        </p:txBody>
      </p:sp>
      <p:pic>
        <p:nvPicPr>
          <p:cNvPr id="4" name="Picture 3">
            <a:extLst>
              <a:ext uri="{FF2B5EF4-FFF2-40B4-BE49-F238E27FC236}">
                <a16:creationId xmlns:a16="http://schemas.microsoft.com/office/drawing/2014/main" id="{F0ED2332-4839-5E8D-4ADF-59C8EE253296}"/>
              </a:ext>
            </a:extLst>
          </p:cNvPr>
          <p:cNvPicPr>
            <a:picLocks noChangeAspect="1"/>
          </p:cNvPicPr>
          <p:nvPr/>
        </p:nvPicPr>
        <p:blipFill>
          <a:blip r:embed="rId3"/>
          <a:stretch>
            <a:fillRect/>
          </a:stretch>
        </p:blipFill>
        <p:spPr>
          <a:xfrm>
            <a:off x="6096000" y="813732"/>
            <a:ext cx="5188527" cy="1904301"/>
          </a:xfrm>
          <a:prstGeom prst="rect">
            <a:avLst/>
          </a:prstGeom>
        </p:spPr>
      </p:pic>
    </p:spTree>
    <p:extLst>
      <p:ext uri="{BB962C8B-B14F-4D97-AF65-F5344CB8AC3E}">
        <p14:creationId xmlns:p14="http://schemas.microsoft.com/office/powerpoint/2010/main" val="3767021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718F57-8692-A1F9-A747-079EE835ECC3}"/>
              </a:ext>
            </a:extLst>
          </p:cNvPr>
          <p:cNvSpPr txBox="1"/>
          <p:nvPr/>
        </p:nvSpPr>
        <p:spPr>
          <a:xfrm>
            <a:off x="1023504" y="889843"/>
            <a:ext cx="6120244" cy="5078313"/>
          </a:xfrm>
          <a:prstGeom prst="rect">
            <a:avLst/>
          </a:prstGeom>
          <a:solidFill>
            <a:srgbClr val="FFFF00"/>
          </a:solidFill>
        </p:spPr>
        <p:txBody>
          <a:bodyPr wrap="square">
            <a:spAutoFit/>
          </a:bodyPr>
          <a:lstStyle/>
          <a:p>
            <a:r>
              <a:rPr lang="en-US" dirty="0"/>
              <a:t>. **`</a:t>
            </a:r>
            <a:r>
              <a:rPr lang="en-US" dirty="0" err="1"/>
              <a:t>draw_fig</a:t>
            </a:r>
            <a:r>
              <a:rPr lang="en-US" dirty="0"/>
              <a:t>(self, row, col)`**:</a:t>
            </a:r>
          </a:p>
          <a:p>
            <a:r>
              <a:rPr lang="en-US" dirty="0"/>
              <a:t>   - **Purpose**: Draws an X or O on the game board at the specified row and column.</a:t>
            </a:r>
          </a:p>
          <a:p>
            <a:r>
              <a:rPr lang="en-US" dirty="0"/>
              <a:t>   - **Parameters**:</a:t>
            </a:r>
          </a:p>
          <a:p>
            <a:r>
              <a:rPr lang="en-US" dirty="0"/>
              <a:t>     - `row`: The row index of the square where the X or O should be drawn.</a:t>
            </a:r>
          </a:p>
          <a:p>
            <a:r>
              <a:rPr lang="en-US" dirty="0"/>
              <a:t>     - `col`: The column index of the square where the X or O should be drawn.</a:t>
            </a:r>
          </a:p>
          <a:p>
            <a:r>
              <a:rPr lang="en-US" dirty="0"/>
              <a:t>   - **Description**: Depending on the current player (`1` for human, `2` for AI), this method draws either an X or O at the specified position on the game board using </a:t>
            </a:r>
            <a:r>
              <a:rPr lang="en-US" dirty="0" err="1"/>
              <a:t>Pygame's</a:t>
            </a:r>
            <a:r>
              <a:rPr lang="en-US" dirty="0"/>
              <a:t> drawing functions (`</a:t>
            </a:r>
            <a:r>
              <a:rPr lang="en-US" dirty="0" err="1"/>
              <a:t>pygame.draw.line</a:t>
            </a:r>
            <a:r>
              <a:rPr lang="en-US" dirty="0"/>
              <a:t>()` for X and `</a:t>
            </a:r>
            <a:r>
              <a:rPr lang="en-US" dirty="0" err="1"/>
              <a:t>pygame.draw.circle</a:t>
            </a:r>
            <a:r>
              <a:rPr lang="en-US" dirty="0"/>
              <a:t>()` for O).</a:t>
            </a:r>
          </a:p>
          <a:p>
            <a:endParaRPr lang="en-US" dirty="0"/>
          </a:p>
          <a:p>
            <a:r>
              <a:rPr lang="en-US" dirty="0"/>
              <a:t>4. **`</a:t>
            </a:r>
            <a:r>
              <a:rPr lang="en-US" dirty="0" err="1"/>
              <a:t>next_turn</a:t>
            </a:r>
            <a:r>
              <a:rPr lang="en-US" dirty="0"/>
              <a:t>(self)`**:</a:t>
            </a:r>
          </a:p>
          <a:p>
            <a:r>
              <a:rPr lang="en-US" dirty="0"/>
              <a:t>   - **Purpose**: Switches to the next player's turn.</a:t>
            </a:r>
          </a:p>
          <a:p>
            <a:r>
              <a:rPr lang="en-US" dirty="0"/>
              <a:t>   - **Description**: Changes the value of the `player` attribute to the next player's number (`1` if it's currently `2`, and vice versa).</a:t>
            </a:r>
          </a:p>
        </p:txBody>
      </p:sp>
      <p:pic>
        <p:nvPicPr>
          <p:cNvPr id="4" name="Picture 3">
            <a:extLst>
              <a:ext uri="{FF2B5EF4-FFF2-40B4-BE49-F238E27FC236}">
                <a16:creationId xmlns:a16="http://schemas.microsoft.com/office/drawing/2014/main" id="{90008B6C-E659-3D53-48FE-71E73A0C8C48}"/>
              </a:ext>
            </a:extLst>
          </p:cNvPr>
          <p:cNvPicPr>
            <a:picLocks noChangeAspect="1"/>
          </p:cNvPicPr>
          <p:nvPr/>
        </p:nvPicPr>
        <p:blipFill>
          <a:blip r:embed="rId2"/>
          <a:stretch>
            <a:fillRect/>
          </a:stretch>
        </p:blipFill>
        <p:spPr>
          <a:xfrm>
            <a:off x="7143748" y="889843"/>
            <a:ext cx="4434998" cy="5422814"/>
          </a:xfrm>
          <a:prstGeom prst="rect">
            <a:avLst/>
          </a:prstGeom>
        </p:spPr>
      </p:pic>
    </p:spTree>
    <p:extLst>
      <p:ext uri="{BB962C8B-B14F-4D97-AF65-F5344CB8AC3E}">
        <p14:creationId xmlns:p14="http://schemas.microsoft.com/office/powerpoint/2010/main" val="2135435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3127AB-91B8-ABEE-05A4-AA5C4830D82D}"/>
              </a:ext>
            </a:extLst>
          </p:cNvPr>
          <p:cNvSpPr txBox="1"/>
          <p:nvPr/>
        </p:nvSpPr>
        <p:spPr>
          <a:xfrm>
            <a:off x="878031" y="799881"/>
            <a:ext cx="6120244" cy="5632311"/>
          </a:xfrm>
          <a:prstGeom prst="rect">
            <a:avLst/>
          </a:prstGeom>
          <a:solidFill>
            <a:srgbClr val="FFFF00"/>
          </a:solidFill>
        </p:spPr>
        <p:txBody>
          <a:bodyPr wrap="square">
            <a:spAutoFit/>
          </a:bodyPr>
          <a:lstStyle/>
          <a:p>
            <a:endParaRPr lang="en-US" dirty="0"/>
          </a:p>
          <a:p>
            <a:r>
              <a:rPr lang="en-US" dirty="0"/>
              <a:t>5. **`</a:t>
            </a:r>
            <a:r>
              <a:rPr lang="en-US" dirty="0" err="1"/>
              <a:t>display_message</a:t>
            </a:r>
            <a:r>
              <a:rPr lang="en-US" dirty="0"/>
              <a:t>(self, message)`**:</a:t>
            </a:r>
          </a:p>
          <a:p>
            <a:r>
              <a:rPr lang="en-US" dirty="0"/>
              <a:t>   - **Purpose**: Displays a message on the screen.</a:t>
            </a:r>
          </a:p>
          <a:p>
            <a:r>
              <a:rPr lang="en-US" dirty="0"/>
              <a:t>   - **Parameters**:</a:t>
            </a:r>
          </a:p>
          <a:p>
            <a:r>
              <a:rPr lang="en-US" dirty="0"/>
              <a:t>     - `message`: The text message to be displayed.</a:t>
            </a:r>
          </a:p>
          <a:p>
            <a:r>
              <a:rPr lang="en-US" dirty="0"/>
              <a:t>   - **Description**: Renders the specified message using </a:t>
            </a:r>
            <a:r>
              <a:rPr lang="en-US" dirty="0" err="1"/>
              <a:t>Pygame's</a:t>
            </a:r>
            <a:r>
              <a:rPr lang="en-US" dirty="0"/>
              <a:t> font rendering functionality and displays it on the screen at the center. This method is used to show messages like "Player X wins!" or "It's a draw!".</a:t>
            </a:r>
          </a:p>
          <a:p>
            <a:endParaRPr lang="en-US" dirty="0"/>
          </a:p>
          <a:p>
            <a:r>
              <a:rPr lang="en-US" dirty="0"/>
              <a:t>6. **`</a:t>
            </a:r>
            <a:r>
              <a:rPr lang="en-US" dirty="0" err="1"/>
              <a:t>display_winner</a:t>
            </a:r>
            <a:r>
              <a:rPr lang="en-US" dirty="0"/>
              <a:t>(self, winner)`**:</a:t>
            </a:r>
          </a:p>
          <a:p>
            <a:r>
              <a:rPr lang="en-US" dirty="0"/>
              <a:t>   - **Purpose**: Displays the winner or a draw message.</a:t>
            </a:r>
          </a:p>
          <a:p>
            <a:r>
              <a:rPr lang="en-US" dirty="0"/>
              <a:t>   - **Parameters**:</a:t>
            </a:r>
          </a:p>
          <a:p>
            <a:r>
              <a:rPr lang="en-US" dirty="0"/>
              <a:t>     - `winner`: The player number of the winner (or `0` for a draw).</a:t>
            </a:r>
          </a:p>
          <a:p>
            <a:r>
              <a:rPr lang="en-US" dirty="0"/>
              <a:t>   - **Description**: Calls the `</a:t>
            </a:r>
            <a:r>
              <a:rPr lang="en-US" dirty="0" err="1"/>
              <a:t>display_message</a:t>
            </a:r>
            <a:r>
              <a:rPr lang="en-US" dirty="0"/>
              <a:t>()` method to display either "It's a draw!" or "Player X wins!" (where `X` is the player number) based on the value of the `winner` parameter. If `winner` is `0`, it displays "It's a draw!"; otherwise, it displays "Player X wins!".</a:t>
            </a:r>
          </a:p>
        </p:txBody>
      </p:sp>
      <p:pic>
        <p:nvPicPr>
          <p:cNvPr id="4" name="Picture 3">
            <a:extLst>
              <a:ext uri="{FF2B5EF4-FFF2-40B4-BE49-F238E27FC236}">
                <a16:creationId xmlns:a16="http://schemas.microsoft.com/office/drawing/2014/main" id="{EF04909F-F23D-3420-54F2-537492F11EE7}"/>
              </a:ext>
            </a:extLst>
          </p:cNvPr>
          <p:cNvPicPr>
            <a:picLocks noChangeAspect="1"/>
          </p:cNvPicPr>
          <p:nvPr/>
        </p:nvPicPr>
        <p:blipFill>
          <a:blip r:embed="rId2"/>
          <a:stretch>
            <a:fillRect/>
          </a:stretch>
        </p:blipFill>
        <p:spPr>
          <a:xfrm>
            <a:off x="6998275" y="716045"/>
            <a:ext cx="4432176" cy="5425910"/>
          </a:xfrm>
          <a:prstGeom prst="rect">
            <a:avLst/>
          </a:prstGeom>
        </p:spPr>
      </p:pic>
    </p:spTree>
    <p:extLst>
      <p:ext uri="{BB962C8B-B14F-4D97-AF65-F5344CB8AC3E}">
        <p14:creationId xmlns:p14="http://schemas.microsoft.com/office/powerpoint/2010/main" val="4148418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E5568-DB17-4533-1DCF-8586AC316800}"/>
              </a:ext>
            </a:extLst>
          </p:cNvPr>
          <p:cNvSpPr>
            <a:spLocks noGrp="1"/>
          </p:cNvSpPr>
          <p:nvPr>
            <p:ph type="title"/>
          </p:nvPr>
        </p:nvSpPr>
        <p:spPr>
          <a:xfrm>
            <a:off x="6477000" y="982132"/>
            <a:ext cx="4419598" cy="1303867"/>
          </a:xfrm>
        </p:spPr>
        <p:txBody>
          <a:bodyPr>
            <a:normAutofit fontScale="90000"/>
          </a:bodyPr>
          <a:lstStyle/>
          <a:p>
            <a:r>
              <a:rPr lang="en-US" dirty="0"/>
              <a:t>Now let’s explain the main method</a:t>
            </a:r>
          </a:p>
        </p:txBody>
      </p:sp>
      <p:pic>
        <p:nvPicPr>
          <p:cNvPr id="5" name="Content Placeholder 4">
            <a:extLst>
              <a:ext uri="{FF2B5EF4-FFF2-40B4-BE49-F238E27FC236}">
                <a16:creationId xmlns:a16="http://schemas.microsoft.com/office/drawing/2014/main" id="{823E87AC-368C-8829-247C-8E192B32726E}"/>
              </a:ext>
            </a:extLst>
          </p:cNvPr>
          <p:cNvPicPr>
            <a:picLocks noGrp="1" noChangeAspect="1"/>
          </p:cNvPicPr>
          <p:nvPr>
            <p:ph idx="1"/>
          </p:nvPr>
        </p:nvPicPr>
        <p:blipFill>
          <a:blip r:embed="rId2"/>
          <a:stretch>
            <a:fillRect/>
          </a:stretch>
        </p:blipFill>
        <p:spPr>
          <a:xfrm>
            <a:off x="6096000" y="2556164"/>
            <a:ext cx="4800598" cy="3674775"/>
          </a:xfrm>
        </p:spPr>
      </p:pic>
      <p:sp>
        <p:nvSpPr>
          <p:cNvPr id="7" name="TextBox 6">
            <a:extLst>
              <a:ext uri="{FF2B5EF4-FFF2-40B4-BE49-F238E27FC236}">
                <a16:creationId xmlns:a16="http://schemas.microsoft.com/office/drawing/2014/main" id="{2D9E51E3-D714-8C31-0E47-35E6A8FCD8AE}"/>
              </a:ext>
            </a:extLst>
          </p:cNvPr>
          <p:cNvSpPr txBox="1"/>
          <p:nvPr/>
        </p:nvSpPr>
        <p:spPr>
          <a:xfrm>
            <a:off x="461241" y="612844"/>
            <a:ext cx="5634759" cy="5632311"/>
          </a:xfrm>
          <a:prstGeom prst="rect">
            <a:avLst/>
          </a:prstGeom>
          <a:solidFill>
            <a:srgbClr val="FFFF00"/>
          </a:solidFill>
        </p:spPr>
        <p:txBody>
          <a:bodyPr wrap="square">
            <a:spAutoFit/>
          </a:bodyPr>
          <a:lstStyle/>
          <a:p>
            <a:endParaRPr lang="en-US" dirty="0"/>
          </a:p>
          <a:p>
            <a:r>
              <a:rPr lang="en-US" dirty="0"/>
              <a:t>1. **Initializing the game**:</a:t>
            </a:r>
          </a:p>
          <a:p>
            <a:r>
              <a:rPr lang="en-US" dirty="0"/>
              <a:t>   - Creates a new instance of the `Game` class.</a:t>
            </a:r>
          </a:p>
          <a:p>
            <a:r>
              <a:rPr lang="en-US" dirty="0"/>
              <a:t>   - Initializes variables to track the last time a message was displayed.</a:t>
            </a:r>
          </a:p>
          <a:p>
            <a:endParaRPr lang="en-US" dirty="0"/>
          </a:p>
          <a:p>
            <a:r>
              <a:rPr lang="en-US" dirty="0"/>
              <a:t>2. **Game Loop**:</a:t>
            </a:r>
          </a:p>
          <a:p>
            <a:r>
              <a:rPr lang="en-US" dirty="0"/>
              <a:t>   - Enters a loop that continues indefinitely until the game is exited.</a:t>
            </a:r>
          </a:p>
          <a:p>
            <a:r>
              <a:rPr lang="en-US" dirty="0"/>
              <a:t>   - Iterates over all events in the </a:t>
            </a:r>
            <a:r>
              <a:rPr lang="en-US" dirty="0" err="1"/>
              <a:t>Pygame</a:t>
            </a:r>
            <a:r>
              <a:rPr lang="en-US" dirty="0"/>
              <a:t> event queue.</a:t>
            </a:r>
          </a:p>
          <a:p>
            <a:r>
              <a:rPr lang="en-US" dirty="0"/>
              <a:t>     - If the event type is `</a:t>
            </a:r>
            <a:r>
              <a:rPr lang="en-US" dirty="0" err="1"/>
              <a:t>pygame.QUIT</a:t>
            </a:r>
            <a:r>
              <a:rPr lang="en-US" dirty="0"/>
              <a:t>`, indicating the user closed the game window, it quits </a:t>
            </a:r>
            <a:r>
              <a:rPr lang="en-US" dirty="0" err="1"/>
              <a:t>Pygame</a:t>
            </a:r>
            <a:r>
              <a:rPr lang="en-US" dirty="0"/>
              <a:t> and exits the system.</a:t>
            </a:r>
          </a:p>
          <a:p>
            <a:r>
              <a:rPr lang="en-US" dirty="0"/>
              <a:t>     - If the event type is `</a:t>
            </a:r>
            <a:r>
              <a:rPr lang="en-US" dirty="0" err="1"/>
              <a:t>pygame.MOUSEBUTTONDOWN</a:t>
            </a:r>
            <a:r>
              <a:rPr lang="en-US" dirty="0"/>
              <a:t>`, indicating a mouse click, it handles the player's move:</a:t>
            </a:r>
          </a:p>
          <a:p>
            <a:r>
              <a:rPr lang="en-US" dirty="0"/>
              <a:t>       - Retrieves the position of the mouse click (`</a:t>
            </a:r>
            <a:r>
              <a:rPr lang="en-US" dirty="0" err="1"/>
              <a:t>event.pos</a:t>
            </a:r>
            <a:r>
              <a:rPr lang="en-US" dirty="0"/>
              <a:t>`) and calculates the corresponding row and column on the game board.</a:t>
            </a:r>
          </a:p>
          <a:p>
            <a:r>
              <a:rPr lang="en-US" dirty="0"/>
              <a:t>       </a:t>
            </a:r>
          </a:p>
        </p:txBody>
      </p:sp>
      <p:sp>
        <p:nvSpPr>
          <p:cNvPr id="9" name="TextBox 8">
            <a:extLst>
              <a:ext uri="{FF2B5EF4-FFF2-40B4-BE49-F238E27FC236}">
                <a16:creationId xmlns:a16="http://schemas.microsoft.com/office/drawing/2014/main" id="{E19F66A0-4F20-2707-BD63-EAAD323E0E56}"/>
              </a:ext>
            </a:extLst>
          </p:cNvPr>
          <p:cNvSpPr txBox="1"/>
          <p:nvPr/>
        </p:nvSpPr>
        <p:spPr>
          <a:xfrm>
            <a:off x="461241" y="5934670"/>
            <a:ext cx="5634759" cy="923330"/>
          </a:xfrm>
          <a:prstGeom prst="rect">
            <a:avLst/>
          </a:prstGeom>
          <a:solidFill>
            <a:srgbClr val="FFFF00"/>
          </a:solidFill>
        </p:spPr>
        <p:txBody>
          <a:bodyPr wrap="square">
            <a:spAutoFit/>
          </a:bodyPr>
          <a:lstStyle/>
          <a:p>
            <a:r>
              <a:rPr lang="en-US" dirty="0"/>
              <a:t>The `main()` function serves as the entry point for running the Tic Tac Toe game. Here's an explanation of each part of the function:</a:t>
            </a:r>
          </a:p>
        </p:txBody>
      </p:sp>
    </p:spTree>
    <p:extLst>
      <p:ext uri="{BB962C8B-B14F-4D97-AF65-F5344CB8AC3E}">
        <p14:creationId xmlns:p14="http://schemas.microsoft.com/office/powerpoint/2010/main" val="3285905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C567B6A-1556-AF93-83DA-7C53FE9F3AAD}"/>
              </a:ext>
            </a:extLst>
          </p:cNvPr>
          <p:cNvSpPr txBox="1"/>
          <p:nvPr/>
        </p:nvSpPr>
        <p:spPr>
          <a:xfrm>
            <a:off x="862734" y="2698552"/>
            <a:ext cx="6115050" cy="3139321"/>
          </a:xfrm>
          <a:prstGeom prst="rect">
            <a:avLst/>
          </a:prstGeom>
          <a:solidFill>
            <a:srgbClr val="FFFF00"/>
          </a:solidFill>
        </p:spPr>
        <p:txBody>
          <a:bodyPr wrap="square">
            <a:spAutoFit/>
          </a:bodyPr>
          <a:lstStyle/>
          <a:p>
            <a:r>
              <a:rPr lang="en-US" dirty="0"/>
              <a:t>- Checks if the clicked square is empty and marks it with the current player's mark.</a:t>
            </a:r>
          </a:p>
          <a:p>
            <a:r>
              <a:rPr lang="en-US" dirty="0"/>
              <a:t>       - Draws the player's mark on the board.</a:t>
            </a:r>
          </a:p>
          <a:p>
            <a:r>
              <a:rPr lang="en-US" dirty="0"/>
              <a:t>       - Checks for a winner or a draw condition.</a:t>
            </a:r>
          </a:p>
          <a:p>
            <a:r>
              <a:rPr lang="en-US" dirty="0"/>
              <a:t>       - Switches to the next player's turn.</a:t>
            </a:r>
          </a:p>
          <a:p>
            <a:r>
              <a:rPr lang="en-US" dirty="0"/>
              <a:t>   - If it's the AI's turn (`</a:t>
            </a:r>
            <a:r>
              <a:rPr lang="en-US" dirty="0" err="1"/>
              <a:t>game.player</a:t>
            </a:r>
            <a:r>
              <a:rPr lang="en-US" dirty="0"/>
              <a:t> == 2`), it determines the AI's move:</a:t>
            </a:r>
          </a:p>
          <a:p>
            <a:r>
              <a:rPr lang="en-US" dirty="0"/>
              <a:t>     - Attempts to find a winning move using `</a:t>
            </a:r>
            <a:r>
              <a:rPr lang="en-US" dirty="0" err="1"/>
              <a:t>ai.get_winning_move</a:t>
            </a:r>
            <a:r>
              <a:rPr lang="en-US" dirty="0"/>
              <a:t>()`.</a:t>
            </a:r>
          </a:p>
          <a:p>
            <a:r>
              <a:rPr lang="en-US" dirty="0"/>
              <a:t>     - If no winning move is found, attempts to find a move to block the opponent from winning using `</a:t>
            </a:r>
            <a:r>
              <a:rPr lang="en-US" dirty="0" err="1"/>
              <a:t>ai.get_blocking_move</a:t>
            </a:r>
            <a:r>
              <a:rPr lang="en-US" dirty="0"/>
              <a:t>()`.</a:t>
            </a:r>
          </a:p>
        </p:txBody>
      </p:sp>
      <p:pic>
        <p:nvPicPr>
          <p:cNvPr id="8" name="Picture 7">
            <a:extLst>
              <a:ext uri="{FF2B5EF4-FFF2-40B4-BE49-F238E27FC236}">
                <a16:creationId xmlns:a16="http://schemas.microsoft.com/office/drawing/2014/main" id="{2700ABB5-FF61-EC33-41EE-8D6956017E37}"/>
              </a:ext>
            </a:extLst>
          </p:cNvPr>
          <p:cNvPicPr>
            <a:picLocks noChangeAspect="1"/>
          </p:cNvPicPr>
          <p:nvPr/>
        </p:nvPicPr>
        <p:blipFill>
          <a:blip r:embed="rId2"/>
          <a:stretch>
            <a:fillRect/>
          </a:stretch>
        </p:blipFill>
        <p:spPr>
          <a:xfrm>
            <a:off x="6977784" y="477982"/>
            <a:ext cx="4797968" cy="5628333"/>
          </a:xfrm>
          <a:prstGeom prst="rect">
            <a:avLst/>
          </a:prstGeom>
        </p:spPr>
      </p:pic>
    </p:spTree>
    <p:extLst>
      <p:ext uri="{BB962C8B-B14F-4D97-AF65-F5344CB8AC3E}">
        <p14:creationId xmlns:p14="http://schemas.microsoft.com/office/powerpoint/2010/main" val="2284164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D4614-82B5-7A8F-3F32-6170CD53A3E9}"/>
              </a:ext>
            </a:extLst>
          </p:cNvPr>
          <p:cNvSpPr>
            <a:spLocks noGrp="1"/>
          </p:cNvSpPr>
          <p:nvPr>
            <p:ph idx="1"/>
          </p:nvPr>
        </p:nvSpPr>
        <p:spPr>
          <a:xfrm>
            <a:off x="1295401" y="2556932"/>
            <a:ext cx="6269181" cy="3318936"/>
          </a:xfrm>
          <a:solidFill>
            <a:srgbClr val="FFFF00"/>
          </a:solidFill>
        </p:spPr>
        <p:txBody>
          <a:bodyPr>
            <a:normAutofit fontScale="32500" lnSpcReduction="20000"/>
          </a:bodyPr>
          <a:lstStyle/>
          <a:p>
            <a:r>
              <a:rPr lang="en-US" dirty="0"/>
              <a:t> - If no blocking move is found, attempts to occupy the center square using `</a:t>
            </a:r>
            <a:r>
              <a:rPr lang="en-US" dirty="0" err="1"/>
              <a:t>ai.get_center_move</a:t>
            </a:r>
            <a:r>
              <a:rPr lang="en-US" dirty="0"/>
              <a:t>()`.</a:t>
            </a:r>
          </a:p>
          <a:p>
            <a:r>
              <a:rPr lang="en-US" dirty="0"/>
              <a:t>     - If the center square is not available, chooses the best move using `</a:t>
            </a:r>
            <a:r>
              <a:rPr lang="en-US" dirty="0" err="1"/>
              <a:t>ai.get_best_move</a:t>
            </a:r>
            <a:r>
              <a:rPr lang="en-US" dirty="0"/>
              <a:t>()` or selects a random move using `</a:t>
            </a:r>
            <a:r>
              <a:rPr lang="en-US" dirty="0" err="1"/>
              <a:t>ai.get_random_move</a:t>
            </a:r>
            <a:r>
              <a:rPr lang="en-US" dirty="0"/>
              <a:t>()`.</a:t>
            </a:r>
          </a:p>
          <a:p>
            <a:r>
              <a:rPr lang="en-US" dirty="0"/>
              <a:t>     - Marks the selected square on the board with the AI's mark.</a:t>
            </a:r>
          </a:p>
          <a:p>
            <a:r>
              <a:rPr lang="en-US" dirty="0"/>
              <a:t>     - Draws the AI's mark on the board.</a:t>
            </a:r>
          </a:p>
          <a:p>
            <a:r>
              <a:rPr lang="en-US" dirty="0"/>
              <a:t>     - Checks for a winner or a draw condition.</a:t>
            </a:r>
          </a:p>
          <a:p>
            <a:r>
              <a:rPr lang="en-US" dirty="0"/>
              <a:t>     - Switches to the next player's turn.</a:t>
            </a:r>
          </a:p>
          <a:p>
            <a:r>
              <a:rPr lang="en-US" dirty="0"/>
              <a:t>   </a:t>
            </a:r>
          </a:p>
          <a:p>
            <a:r>
              <a:rPr lang="en-US" dirty="0"/>
              <a:t>3. **Updating the Display**:</a:t>
            </a:r>
          </a:p>
          <a:p>
            <a:r>
              <a:rPr lang="en-US" dirty="0"/>
              <a:t>   - Checks if a message has been displayed (`</a:t>
            </a:r>
            <a:r>
              <a:rPr lang="en-US" dirty="0" err="1"/>
              <a:t>last_message_time</a:t>
            </a:r>
            <a:r>
              <a:rPr lang="en-US" dirty="0"/>
              <a:t> != 0`) and if the time since the last message exceeds 2 seconds, it quits </a:t>
            </a:r>
            <a:r>
              <a:rPr lang="en-US" dirty="0" err="1"/>
              <a:t>Pygame</a:t>
            </a:r>
            <a:r>
              <a:rPr lang="en-US" dirty="0"/>
              <a:t> and exits the system.</a:t>
            </a:r>
          </a:p>
          <a:p>
            <a:r>
              <a:rPr lang="en-US" dirty="0"/>
              <a:t>   - Checks for a draw condition and displays the corresponding message if the board is full and there is no winner.</a:t>
            </a:r>
          </a:p>
          <a:p>
            <a:r>
              <a:rPr lang="en-US" dirty="0"/>
              <a:t>   - Updates the </a:t>
            </a:r>
            <a:r>
              <a:rPr lang="en-US" dirty="0" err="1"/>
              <a:t>Pygame</a:t>
            </a:r>
            <a:r>
              <a:rPr lang="en-US" dirty="0"/>
              <a:t> display.</a:t>
            </a:r>
          </a:p>
          <a:p>
            <a:endParaRPr lang="en-US" dirty="0"/>
          </a:p>
          <a:p>
            <a:r>
              <a:rPr lang="en-US" dirty="0"/>
              <a:t>4. **Running the Main Function**:</a:t>
            </a:r>
          </a:p>
          <a:p>
            <a:r>
              <a:rPr lang="en-US" dirty="0"/>
              <a:t>   - Checks if the script is being run as the main program (`__name__ == "__main__"`).</a:t>
            </a:r>
          </a:p>
          <a:p>
            <a:r>
              <a:rPr lang="en-US" dirty="0"/>
              <a:t>   - If so, calls the `main()` function to start the game.</a:t>
            </a:r>
          </a:p>
        </p:txBody>
      </p:sp>
      <p:pic>
        <p:nvPicPr>
          <p:cNvPr id="4" name="Picture 3">
            <a:extLst>
              <a:ext uri="{FF2B5EF4-FFF2-40B4-BE49-F238E27FC236}">
                <a16:creationId xmlns:a16="http://schemas.microsoft.com/office/drawing/2014/main" id="{5CD0C229-ECA5-B196-C2A1-A3AF02B987D1}"/>
              </a:ext>
            </a:extLst>
          </p:cNvPr>
          <p:cNvPicPr>
            <a:picLocks noChangeAspect="1"/>
          </p:cNvPicPr>
          <p:nvPr/>
        </p:nvPicPr>
        <p:blipFill>
          <a:blip r:embed="rId2"/>
          <a:stretch>
            <a:fillRect/>
          </a:stretch>
        </p:blipFill>
        <p:spPr>
          <a:xfrm>
            <a:off x="7463673" y="982132"/>
            <a:ext cx="4113134" cy="5250888"/>
          </a:xfrm>
          <a:prstGeom prst="rect">
            <a:avLst/>
          </a:prstGeom>
        </p:spPr>
      </p:pic>
    </p:spTree>
    <p:extLst>
      <p:ext uri="{BB962C8B-B14F-4D97-AF65-F5344CB8AC3E}">
        <p14:creationId xmlns:p14="http://schemas.microsoft.com/office/powerpoint/2010/main" val="2396288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F6AAF-0269-5FD3-18A8-A09A6E2755DD}"/>
              </a:ext>
            </a:extLst>
          </p:cNvPr>
          <p:cNvSpPr>
            <a:spLocks noGrp="1"/>
          </p:cNvSpPr>
          <p:nvPr>
            <p:ph type="title"/>
          </p:nvPr>
        </p:nvSpPr>
        <p:spPr/>
        <p:txBody>
          <a:bodyPr/>
          <a:lstStyle/>
          <a:p>
            <a:r>
              <a:rPr lang="en-US" dirty="0"/>
              <a:t>Thanks any questions</a:t>
            </a:r>
          </a:p>
        </p:txBody>
      </p:sp>
      <p:pic>
        <p:nvPicPr>
          <p:cNvPr id="4" name="Picture 3">
            <a:extLst>
              <a:ext uri="{FF2B5EF4-FFF2-40B4-BE49-F238E27FC236}">
                <a16:creationId xmlns:a16="http://schemas.microsoft.com/office/drawing/2014/main" id="{CDF8E6C9-1B93-1408-B9A1-F8B539F2B688}"/>
              </a:ext>
            </a:extLst>
          </p:cNvPr>
          <p:cNvPicPr>
            <a:picLocks noChangeAspect="1"/>
          </p:cNvPicPr>
          <p:nvPr/>
        </p:nvPicPr>
        <p:blipFill>
          <a:blip r:embed="rId2"/>
          <a:stretch>
            <a:fillRect/>
          </a:stretch>
        </p:blipFill>
        <p:spPr>
          <a:xfrm>
            <a:off x="3139007" y="2625105"/>
            <a:ext cx="5074083" cy="3317875"/>
          </a:xfrm>
          <a:prstGeom prst="rect">
            <a:avLst/>
          </a:prstGeom>
        </p:spPr>
      </p:pic>
    </p:spTree>
    <p:extLst>
      <p:ext uri="{BB962C8B-B14F-4D97-AF65-F5344CB8AC3E}">
        <p14:creationId xmlns:p14="http://schemas.microsoft.com/office/powerpoint/2010/main" val="86367864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239</TotalTime>
  <Words>2940</Words>
  <Application>Microsoft Office PowerPoint</Application>
  <PresentationFormat>Widescreen</PresentationFormat>
  <Paragraphs>157</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Garamond</vt:lpstr>
      <vt:lpstr>Georgia</vt:lpstr>
      <vt:lpstr>Organic</vt:lpstr>
      <vt:lpstr>Tic-Tac-Toe AI player</vt:lpstr>
      <vt:lpstr>Introduction “What a Tic-Tac-Toe game ?”</vt:lpstr>
      <vt:lpstr>Question: “What does the AI player intend to do?”</vt:lpstr>
      <vt:lpstr>Explaining a Flow chart for the code</vt:lpstr>
      <vt:lpstr>Now let us explain the code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Now let’s explain the main method</vt:lpstr>
      <vt:lpstr>PowerPoint Presentation</vt:lpstr>
      <vt:lpstr>PowerPoint Presentation</vt:lpstr>
      <vt:lpstr>Thanks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Tic-tac-toe AI player</dc:title>
  <dc:creator>Original Nassar</dc:creator>
  <cp:lastModifiedBy>Original Nassar</cp:lastModifiedBy>
  <cp:revision>5</cp:revision>
  <dcterms:created xsi:type="dcterms:W3CDTF">2024-05-02T22:56:29Z</dcterms:created>
  <dcterms:modified xsi:type="dcterms:W3CDTF">2025-07-07T11:52:52Z</dcterms:modified>
</cp:coreProperties>
</file>